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presenting Shokri, Strobel and Zick, "On the privacy risks of model explanations", from AIES 2021. The short version: explanations are supposed to make ML more transparent, but they are computed from a model trained on private data, so they can leak that data. I'll go through the attack, the results, what I think is weak about the evidence, and how it connects to the unlearning paper by Bertran et 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matter? Models are used for credit, health care, hiring, and people want to be able to contest the decisions. That has led to the debate around a right to explanation in the GDPR, and the big cloud providers all ship explanation tools now. So this is not only a research thing. But an explanation is just more information released about a model trained on personal data, and anything you release can leak. Before this paper nobody had really measured how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research question. They measure the leakage with membership inference, which is the standard way to audit what a model leaks. Membership alone can already be sensitive, for example if the model is trained only on patients with a certain disease. The UK ICO also lists membership inference as a threat in its AI auditing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families. Backpropagation-based ones like the plain gradient, where each feature gets a score for how much it influences the prediction. Perturbation-based ones like SmoothGrad and LIME, which query the model on noisy copies of the input. And example-based ones, which return actual training points instead of feature scores. The main paper is about the first two, and the example-based part is in the appendix, but honestly I think the appendix has the most striking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threat model is simple. The attacker has some records and wants to know which ones were in the training set. They send a record to the model and get back the prediction and the explanation. The candidate set is half members, so 50% is the baseline to beat. They assume the attacker knows the architecture, following Kerckhoffs's principle, and for choosing the threshold there are two versions: the optimal threshold, which you can only compute if you already know membership, so it's a worst-case estimate, and the realistic one where you train one or three shadow models on similar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attack itself is very simple. You compute the variance of the explanation vector and call the point a member if it's below a threshold. The intuition is in the picture: training pushes the decision boundary away from training points, so around a member the output is flat and saturated, and changing a feature barely changes anything. Small gradient, low variance. Points near the boundary, where tanh or softmax is steep, get big gradients, and those are more often non-members. So high variance is basically a stand-in for high loss, but you don't need the true label. They also use the prediction variance the same way, and they note the L1 norm works just as well as the variance.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use six datasets. Purchase and Texas are high-dimensional binary tabular data, then CIFAR-10 and 100, and two low-dimensional ones, Hospital and Adult. The column I want you to look at is the gap between training and test accuracy. Texas is 98 versus 52, CIFAR-100 is 97 versus 29. So most of these models overfit a lot, which matters later when we talk about how realistic the numbers are. Each dataset is split into four parts so each model can be a shadow model for the others, and it's repeated 25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result. Gradient variance gives 59% on Purchase and 67% on Texas, against 50% for guessing. The authors call it a clear proof of concept. On the image datasets it's basically random, because gradient variance jumps around a lot between images. On Adult and Hospital nothing works, not even the loss attack, and those are the models that don't overfit. Two more things: shadow models get close to the optimal threshold, especially with three, so a real attacker can do this. And the prediction variance is almost as good as the loss, so you don't need the label. But notice the green bar is never higher than the blue one: the explanation never leaks more than the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it work on some datasets and not others? They test this with synthetic data. With few features, members and non-members are equally close to the boundary, so there's no signal, which is what we saw on Adult and Hospital. Between about a thousand and ten thousand features there is a clear correlation. The plot is their Figure 5: if you train longer, the attack on Texas goes from 55 to 67 percent, Purchase from 53 to 59, and CIFAR-10 stays flat. So the leakage comes from the model overfitting, and the explanation just exposes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SmoothGrad and LIME don't leak at all in their experiments. Their explanation is that these methods evaluate the model on noisy points that are off the data manifold, where the model's behaviour is basically unspecified and says nothing about the training data. But they point out that this is also why these explanations are criticised: they are less faithful, and Slack et al. showed you can fool LIME. So the privacy might just come from being a worse explanation. One strange thing: the LIME experiment was smaller because LIME is slow, and in that setup the plain gradient attack suddenly got 84% on Texas, which they can't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appendix, which I think is the scariest part. With example-based explanations you don't need statistics: if a training point shows up in its own explanation, it's definitely a member. For Hospital that's 63% of the training set with top-5 explanations. Then they go further and reconstruct the dataset. Their algorithm keeps querying in the region where the points it already found have zero influence, so a new point has to come up. On Dog/Fish they get back 1,790 of 1,800 images. On Adult and Hospital much less, because the algorithm can't recover more points than the number of features. Note this is only logistic regression on small 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result I found most worrying. This is Table 3 from the paper. Small groups get revealed much more often. Birds in the Dog/Fish data are 0.6% of the images and 84% of them are revealed at k equals 5, compared to 24% overall. Children under 10 in the Hospital data are all revealed. The reason is that unusual points are more influential and more memorised, and transparency is partly supposed to protect exactly these groups. Adult is an exception, young and Black people are revealed less there because those attributes predict the label well. And the caveat: these groups are tiny, 0.2% of 2,000 points is four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assessment. Good things: it started the whole topic, it's broad, and I like that they try to explain when leakage happens instead of only reporting numbers. The weak points. First, they only report average accuracy. Carlini et al. later showed that this can hide whether you can identify anyone with confidence, so 67% could be a few people identified for sure or a weak signal on everyone. Second, the explanation never does better than the loss, so it's mostly a proxy for the loss; the extra risk is only for services that hide confidence scores but show explanations. Third, the models overfit heavily and there's no DP or regularised model. And the off-manifold explanation for SmoothGrad is never tested, for example by changing the noise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Connecting this to the course. Neither paper actually tests a defence, but we can reason about DP. A gradient explanation only depends on the trained model and the query point. So if the model is trained with DP, say DP-SGD, the post-processing property means all feature-based explanations are DP too, for free. Example-based explanations are different: they look at the training data again when you ask for an explanation, so post-processing doesn't cover them. I think that's the simplest way to see why they did so much worse in the paper. Later work by the same group builds DP explanations.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I'm asking questions about, Bertran et al., attacks machine unlearning. When someone asks to be deleted, you can compare the model before and after, multiply by an estimated Hessian, and get back roughly the gradient of the deleted record, and from that the record itself. That's the same influence-function maths that the Koh and Liang explanations use. So both papers make the same point: something we add to serve a GDPR right, explanation or erasure, releases a second view of the model that leaks more than the model alone. And in both, membership inference on the simple models is basically random, but reconstruction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what I think should come next: explanation methods with formal DP guarantees where someone actually measures how much worse the explanations get; re-running these attacks with better metrics and on models that don't overfit so much; and, connecting to Bertran, what happens when one service offers both explanations and unlearning. My main takeaway is that an explanation should be treated as part of what a model reveals about its training data, just like predictions and confidence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happy to take questions. Likely ones: is 59 to 67 percent a real risk (moderate on average; the real question is whether specific people can be identified with few false positives, which they don't measure); why not just hide confidence scores (the gradient carries almost the same signal); should we stop explaining (the authors say no, we need explanations with a measured privacy and quality trade-off).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430"/>
        </a:solidFill>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9875F"/>
                </a:solidFill>
                <a:latin typeface="IBM Plex Sans" pitchFamily="34" charset="0"/>
                <a:ea typeface="IBM Plex Sans" pitchFamily="34" charset="-122"/>
                <a:cs typeface="IBM Plex Sans" pitchFamily="34" charset="-120"/>
              </a:rPr>
              <a:t>Data Privacy · Assignment 2 seminar</a:t>
            </a:r>
            <a:endParaRPr lang="en-US" sz="1500" dirty="0"/>
          </a:p>
        </p:txBody>
      </p:sp>
      <p:sp>
        <p:nvSpPr>
          <p:cNvPr id="3" name="Text 1"/>
          <p:cNvSpPr/>
          <p:nvPr/>
        </p:nvSpPr>
        <p:spPr>
          <a:xfrm>
            <a:off x="812800" y="2496820"/>
            <a:ext cx="10883392" cy="13665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6F4EF"/>
                </a:solidFill>
                <a:latin typeface="Source Serif 4" pitchFamily="34" charset="0"/>
                <a:ea typeface="Source Serif 4" pitchFamily="34" charset="-122"/>
                <a:cs typeface="Source Serif 4" pitchFamily="34" charset="-120"/>
              </a:rPr>
              <a:t>On the Privacy Risks of Model Explanations</a:t>
            </a:r>
            <a:endParaRPr lang="en-US" sz="4800" dirty="0"/>
          </a:p>
        </p:txBody>
      </p:sp>
      <p:sp>
        <p:nvSpPr>
          <p:cNvPr id="4" name="Text 2"/>
          <p:cNvSpPr/>
          <p:nvPr/>
        </p:nvSpPr>
        <p:spPr>
          <a:xfrm>
            <a:off x="812800" y="4041140"/>
            <a:ext cx="10883392"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DD6"/>
                </a:solidFill>
                <a:latin typeface="IBM Plex Sans" pitchFamily="34" charset="0"/>
                <a:ea typeface="IBM Plex Sans" pitchFamily="34" charset="-122"/>
                <a:cs typeface="IBM Plex Sans" pitchFamily="34" charset="-120"/>
              </a:rPr>
              <a:t>Reza Shokri, Martin Strobel and Yair Zick · AIES 2021</a:t>
            </a:r>
            <a:endParaRPr lang="en-US" sz="1800" dirty="0"/>
          </a:p>
        </p:txBody>
      </p:sp>
      <p:sp>
        <p:nvSpPr>
          <p:cNvPr id="5" name="Text 3"/>
          <p:cNvSpPr/>
          <p:nvPr/>
        </p:nvSpPr>
        <p:spPr>
          <a:xfrm>
            <a:off x="812800" y="57785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CDD6"/>
                </a:solidFill>
                <a:latin typeface="IBM Plex Sans" pitchFamily="34" charset="0"/>
                <a:ea typeface="IBM Plex Sans" pitchFamily="34" charset="-122"/>
                <a:cs typeface="IBM Plex Sans" pitchFamily="34" charset="-120"/>
              </a:rPr>
              <a:t>Michail Pettas · 2 October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2534920"/>
            <a:ext cx="9156700" cy="939800"/>
          </a:xfrm>
          <a:prstGeom prst="rect">
            <a:avLst/>
          </a:prstGeom>
          <a:noFill/>
          <a:ln/>
        </p:spPr>
        <p:txBody>
          <a:bodyPr wrap="square" lIns="0" tIns="0" rIns="0" bIns="0" rtlCol="0" anchor="t">
            <a:normAutofit/>
          </a:bodyPr>
          <a:lstStyle/>
          <a:p>
            <a:pPr algn="l" indent="0" marL="0">
              <a:lnSpc>
                <a:spcPts val="3600"/>
              </a:lnSpc>
              <a:buNone/>
            </a:pPr>
            <a:r>
              <a:rPr lang="en-US" sz="3000" b="1" dirty="0">
                <a:solidFill>
                  <a:srgbClr val="1E2430"/>
                </a:solidFill>
                <a:latin typeface="Source Serif 4" pitchFamily="34" charset="0"/>
                <a:ea typeface="Source Serif 4" pitchFamily="34" charset="-122"/>
                <a:cs typeface="Source Serif 4" pitchFamily="34" charset="-120"/>
              </a:rPr>
              <a:t>Every explanation is computed from a model that was trained on personal data.</a:t>
            </a:r>
            <a:endParaRPr lang="en-US" sz="3000" dirty="0"/>
          </a:p>
        </p:txBody>
      </p:sp>
      <p:sp>
        <p:nvSpPr>
          <p:cNvPr id="3" name="Text 1"/>
          <p:cNvSpPr/>
          <p:nvPr/>
        </p:nvSpPr>
        <p:spPr>
          <a:xfrm>
            <a:off x="812800" y="3754120"/>
            <a:ext cx="850265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F5C"/>
                </a:solidFill>
                <a:latin typeface="IBM Plex Sans" pitchFamily="34" charset="0"/>
                <a:ea typeface="IBM Plex Sans" pitchFamily="34" charset="-122"/>
                <a:cs typeface="IBM Plex Sans" pitchFamily="34" charset="-120"/>
              </a:rPr>
              <a:t>There is a debate about a “right to explanation” in the GDPR (Art. 13–15, 22), and Google, Microsoft and IBM already ship explanation toolkits.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430"/>
        </a:solidFill>
      </p:bgPr>
    </p:bg>
    <p:spTree>
      <p:nvGrpSpPr>
        <p:cNvPr id="1" name=""/>
        <p:cNvGrpSpPr/>
        <p:nvPr/>
      </p:nvGrpSpPr>
      <p:grpSpPr>
        <a:xfrm>
          <a:off x="0" y="0"/>
          <a:ext cx="0" cy="0"/>
          <a:chOff x="0" y="0"/>
          <a:chExt cx="0" cy="0"/>
        </a:xfrm>
      </p:grpSpPr>
      <p:sp>
        <p:nvSpPr>
          <p:cNvPr id="2" name="Text 0"/>
          <p:cNvSpPr/>
          <p:nvPr/>
        </p:nvSpPr>
        <p:spPr>
          <a:xfrm>
            <a:off x="812800" y="214503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9875F"/>
                </a:solidFill>
                <a:latin typeface="IBM Plex Sans" pitchFamily="34" charset="0"/>
                <a:ea typeface="IBM Plex Sans" pitchFamily="34" charset="-122"/>
                <a:cs typeface="IBM Plex Sans" pitchFamily="34" charset="-120"/>
              </a:rPr>
              <a:t>Research question</a:t>
            </a:r>
            <a:endParaRPr lang="en-US" sz="1500" dirty="0"/>
          </a:p>
        </p:txBody>
      </p:sp>
      <p:sp>
        <p:nvSpPr>
          <p:cNvPr id="3" name="Text 1"/>
          <p:cNvSpPr/>
          <p:nvPr/>
        </p:nvSpPr>
        <p:spPr>
          <a:xfrm>
            <a:off x="812800" y="2716530"/>
            <a:ext cx="10883392" cy="1397000"/>
          </a:xfrm>
          <a:prstGeom prst="rect">
            <a:avLst/>
          </a:prstGeom>
          <a:noFill/>
          <a:ln/>
        </p:spPr>
        <p:txBody>
          <a:bodyPr wrap="square" lIns="0" tIns="0" rIns="0" bIns="0" rtlCol="0" anchor="t">
            <a:normAutofit/>
          </a:bodyPr>
          <a:lstStyle/>
          <a:p>
            <a:pPr algn="l" indent="0" marL="0">
              <a:lnSpc>
                <a:spcPts val="3600"/>
              </a:lnSpc>
              <a:buNone/>
            </a:pPr>
            <a:r>
              <a:rPr lang="en-US" sz="3000" b="1" dirty="0">
                <a:solidFill>
                  <a:srgbClr val="F6F4EF"/>
                </a:solidFill>
                <a:latin typeface="Source Serif 4" pitchFamily="34" charset="0"/>
                <a:ea typeface="Source Serif 4" pitchFamily="34" charset="-122"/>
                <a:cs typeface="Source Serif 4" pitchFamily="34" charset="-120"/>
              </a:rPr>
              <a:t>Can an adversary use model explanations to infer private information about the training data, and which kinds of explanations make this possible?</a:t>
            </a:r>
            <a:endParaRPr lang="en-US" sz="3000" dirty="0"/>
          </a:p>
        </p:txBody>
      </p:sp>
      <p:sp>
        <p:nvSpPr>
          <p:cNvPr id="4" name="Text 2"/>
          <p:cNvSpPr/>
          <p:nvPr/>
        </p:nvSpPr>
        <p:spPr>
          <a:xfrm>
            <a:off x="812800" y="4392930"/>
            <a:ext cx="10883392"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DD6"/>
                </a:solidFill>
                <a:latin typeface="IBM Plex Sans" pitchFamily="34" charset="0"/>
                <a:ea typeface="IBM Plex Sans" pitchFamily="34" charset="-122"/>
                <a:cs typeface="IBM Plex Sans" pitchFamily="34" charset="-120"/>
              </a:rPr>
              <a:t>Measured with membership inference: was this record part of the training set?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E2430"/>
                </a:solidFill>
                <a:latin typeface="Source Serif 4" pitchFamily="34" charset="0"/>
                <a:ea typeface="Source Serif 4" pitchFamily="34" charset="-122"/>
                <a:cs typeface="Source Serif 4" pitchFamily="34" charset="-120"/>
              </a:rPr>
              <a:t>Three types of explanations</a:t>
            </a:r>
            <a:endParaRPr lang="en-US" sz="3000" dirty="0"/>
          </a:p>
        </p:txBody>
      </p:sp>
      <p:sp>
        <p:nvSpPr>
          <p:cNvPr id="3" name="Text 1"/>
          <p:cNvSpPr/>
          <p:nvPr/>
        </p:nvSpPr>
        <p:spPr>
          <a:xfrm>
            <a:off x="812800" y="1536700"/>
            <a:ext cx="10883392" cy="1739900"/>
          </a:xfrm>
          <a:prstGeom prst="rect">
            <a:avLst/>
          </a:prstGeom>
          <a:noFill/>
          <a:ln/>
        </p:spPr>
        <p:txBody>
          <a:bodyPr wrap="square" lIns="0" tIns="0" rIns="0" bIns="0" rtlCol="0" anchor="t">
            <a:normAutofit/>
          </a:bodyPr>
          <a:lstStyle/>
          <a:p>
            <a:pPr algn="l" marL="274320" indent="-210566">
              <a:lnSpc>
                <a:spcPts val="2700"/>
              </a:lnSpc>
              <a:buSzPct val="100000"/>
              <a:buChar char="•"/>
            </a:pPr>
            <a:r>
              <a:rPr lang="en-US" sz="1800" dirty="0">
                <a:solidFill>
                  <a:srgbClr val="4A4F5C"/>
                </a:solidFill>
                <a:latin typeface="IBM Plex Sans" pitchFamily="34" charset="0"/>
                <a:ea typeface="IBM Plex Sans" pitchFamily="34" charset="-122"/>
                <a:cs typeface="IBM Plex Sans" pitchFamily="34" charset="-120"/>
              </a:rPr>
              <a:t>Backpropagation-based: the gradient (saliency map) and variants like Integrated Gradients, Guided Backprop and LRP</a:t>
            </a:r>
            <a:endParaRPr lang="en-US" sz="1800" dirty="0"/>
          </a:p>
          <a:p>
            <a:pPr algn="l" marL="274320" indent="-210566">
              <a:lnSpc>
                <a:spcPts val="2700"/>
              </a:lnSpc>
              <a:buSzPct val="100000"/>
              <a:buChar char="•"/>
            </a:pPr>
            <a:r>
              <a:rPr lang="en-US" sz="1800" dirty="0">
                <a:solidFill>
                  <a:srgbClr val="4A4F5C"/>
                </a:solidFill>
                <a:latin typeface="IBM Plex Sans" pitchFamily="34" charset="0"/>
                <a:ea typeface="IBM Plex Sans" pitchFamily="34" charset="-122"/>
                <a:cs typeface="IBM Plex Sans" pitchFamily="34" charset="-120"/>
              </a:rPr>
              <a:t>Perturbation-based: query the model on noisy copies of the input, e.g. SmoothGrad and LIME</a:t>
            </a:r>
            <a:endParaRPr lang="en-US" sz="1800" dirty="0"/>
          </a:p>
          <a:p>
            <a:pPr algn="l" marL="274320" indent="-210566">
              <a:lnSpc>
                <a:spcPts val="2700"/>
              </a:lnSpc>
              <a:buSzPct val="100000"/>
              <a:buChar char="•"/>
            </a:pPr>
            <a:r>
              <a:rPr lang="en-US" sz="1800" dirty="0">
                <a:solidFill>
                  <a:srgbClr val="4A4F5C"/>
                </a:solidFill>
                <a:latin typeface="IBM Plex Sans" pitchFamily="34" charset="0"/>
                <a:ea typeface="IBM Plex Sans" pitchFamily="34" charset="-122"/>
                <a:cs typeface="IBM Plex Sans" pitchFamily="34" charset="-120"/>
              </a:rPr>
              <a:t>Example-based: return the training points that influenced the prediction most (influence functions, Koh &amp; Liang 2017)</a:t>
            </a:r>
            <a:endParaRPr lang="en-US" sz="1800" dirty="0"/>
          </a:p>
        </p:txBody>
      </p:sp>
      <p:sp>
        <p:nvSpPr>
          <p:cNvPr id="4" name="Text 2"/>
          <p:cNvSpPr/>
          <p:nvPr/>
        </p:nvSpPr>
        <p:spPr>
          <a:xfrm>
            <a:off x="812800" y="35560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B6F78"/>
                </a:solidFill>
                <a:latin typeface="IBM Plex Sans" pitchFamily="34" charset="0"/>
                <a:ea typeface="IBM Plex Sans" pitchFamily="34" charset="-122"/>
                <a:cs typeface="IBM Plex Sans" pitchFamily="34" charset="-120"/>
              </a:rPr>
              <a:t>The main paper covers the first two. Example-based explanations are in the appendix.</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E2430"/>
                </a:solidFill>
                <a:latin typeface="Source Serif 4" pitchFamily="34" charset="0"/>
                <a:ea typeface="Source Serif 4" pitchFamily="34" charset="-122"/>
                <a:cs typeface="Source Serif 4" pitchFamily="34" charset="-120"/>
              </a:rPr>
              <a:t>Threat model</a:t>
            </a:r>
            <a:endParaRPr lang="en-US" sz="3000" dirty="0"/>
          </a:p>
        </p:txBody>
      </p:sp>
      <p:sp>
        <p:nvSpPr>
          <p:cNvPr id="3" name="Shape 1"/>
          <p:cNvSpPr/>
          <p:nvPr/>
        </p:nvSpPr>
        <p:spPr>
          <a:xfrm>
            <a:off x="815975" y="1539875"/>
            <a:ext cx="4819650" cy="524510"/>
          </a:xfrm>
          <a:prstGeom prst="roundRect">
            <a:avLst>
              <a:gd name="adj" fmla="val 13923"/>
            </a:avLst>
          </a:prstGeom>
          <a:solidFill>
            <a:srgbClr val="FBFAF7"/>
          </a:solidFill>
          <a:ln w="6350">
            <a:solidFill>
              <a:srgbClr val="DDD8CC"/>
            </a:solidFill>
            <a:prstDash val="solid"/>
          </a:ln>
        </p:spPr>
      </p:sp>
      <p:sp>
        <p:nvSpPr>
          <p:cNvPr id="4" name="Text 2"/>
          <p:cNvSpPr/>
          <p:nvPr/>
        </p:nvSpPr>
        <p:spPr>
          <a:xfrm>
            <a:off x="1021080" y="1668782"/>
            <a:ext cx="454172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Attacker holds a candidate record x</a:t>
            </a:r>
            <a:endParaRPr lang="en-US" sz="1500" dirty="0"/>
          </a:p>
        </p:txBody>
      </p:sp>
      <p:pic>
        <p:nvPicPr>
          <p:cNvPr id="5" name="Image 0" descr="arrow-down">    </p:cNvPr>
          <p:cNvPicPr>
            <a:picLocks noChangeAspect="1"/>
          </p:cNvPicPr>
          <p:nvPr/>
        </p:nvPicPr>
        <p:blipFill>
          <a:blip r:embed="rId1"/>
          <a:srcRect l="0" r="0" t="0" b="0"/>
          <a:stretch/>
        </p:blipFill>
        <p:spPr>
          <a:xfrm>
            <a:off x="3111500" y="2143761"/>
            <a:ext cx="228600" cy="279400"/>
          </a:xfrm>
          <a:prstGeom prst="rect">
            <a:avLst/>
          </a:prstGeom>
        </p:spPr>
      </p:pic>
      <p:sp>
        <p:nvSpPr>
          <p:cNvPr id="6" name="Shape 3"/>
          <p:cNvSpPr/>
          <p:nvPr/>
        </p:nvSpPr>
        <p:spPr>
          <a:xfrm>
            <a:off x="815975" y="2502536"/>
            <a:ext cx="4819650" cy="524510"/>
          </a:xfrm>
          <a:prstGeom prst="roundRect">
            <a:avLst>
              <a:gd name="adj" fmla="val 13923"/>
            </a:avLst>
          </a:prstGeom>
          <a:solidFill>
            <a:srgbClr val="FBFAF7"/>
          </a:solidFill>
          <a:ln w="6350">
            <a:solidFill>
              <a:srgbClr val="DDD8CC"/>
            </a:solidFill>
            <a:prstDash val="solid"/>
          </a:ln>
        </p:spPr>
      </p:sp>
      <p:sp>
        <p:nvSpPr>
          <p:cNvPr id="7" name="Text 4"/>
          <p:cNvSpPr/>
          <p:nvPr/>
        </p:nvSpPr>
        <p:spPr>
          <a:xfrm>
            <a:off x="1021080" y="2631439"/>
            <a:ext cx="454172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Model API, trained on private data</a:t>
            </a:r>
            <a:endParaRPr lang="en-US" sz="1500" dirty="0"/>
          </a:p>
        </p:txBody>
      </p:sp>
      <p:pic>
        <p:nvPicPr>
          <p:cNvPr id="8" name="Image 1" descr="arrow-down">    </p:cNvPr>
          <p:cNvPicPr>
            <a:picLocks noChangeAspect="1"/>
          </p:cNvPicPr>
          <p:nvPr/>
        </p:nvPicPr>
        <p:blipFill>
          <a:blip r:embed="rId2"/>
          <a:srcRect l="0" r="0" t="0" b="0"/>
          <a:stretch/>
        </p:blipFill>
        <p:spPr>
          <a:xfrm>
            <a:off x="3111500" y="3106421"/>
            <a:ext cx="228600" cy="279400"/>
          </a:xfrm>
          <a:prstGeom prst="rect">
            <a:avLst/>
          </a:prstGeom>
        </p:spPr>
      </p:pic>
      <p:sp>
        <p:nvSpPr>
          <p:cNvPr id="9" name="Shape 5"/>
          <p:cNvSpPr/>
          <p:nvPr/>
        </p:nvSpPr>
        <p:spPr>
          <a:xfrm>
            <a:off x="815975" y="3465196"/>
            <a:ext cx="4819650" cy="524510"/>
          </a:xfrm>
          <a:prstGeom prst="roundRect">
            <a:avLst>
              <a:gd name="adj" fmla="val 13923"/>
            </a:avLst>
          </a:prstGeom>
          <a:solidFill>
            <a:srgbClr val="FBFAF7"/>
          </a:solidFill>
          <a:ln w="6350">
            <a:solidFill>
              <a:srgbClr val="DDD8CC"/>
            </a:solidFill>
            <a:prstDash val="solid"/>
          </a:ln>
        </p:spPr>
      </p:sp>
      <p:sp>
        <p:nvSpPr>
          <p:cNvPr id="10" name="Text 6"/>
          <p:cNvSpPr/>
          <p:nvPr/>
        </p:nvSpPr>
        <p:spPr>
          <a:xfrm>
            <a:off x="1021080" y="3594100"/>
            <a:ext cx="454172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Returns prediction c(x) and explanation φ(x)</a:t>
            </a:r>
            <a:endParaRPr lang="en-US" sz="1500" dirty="0"/>
          </a:p>
        </p:txBody>
      </p:sp>
      <p:pic>
        <p:nvPicPr>
          <p:cNvPr id="11" name="Image 2" descr="arrow-down">    </p:cNvPr>
          <p:cNvPicPr>
            <a:picLocks noChangeAspect="1"/>
          </p:cNvPicPr>
          <p:nvPr/>
        </p:nvPicPr>
        <p:blipFill>
          <a:blip r:embed="rId3"/>
          <a:srcRect l="0" r="0" t="0" b="0"/>
          <a:stretch/>
        </p:blipFill>
        <p:spPr>
          <a:xfrm>
            <a:off x="3111500" y="4069082"/>
            <a:ext cx="228600" cy="279400"/>
          </a:xfrm>
          <a:prstGeom prst="rect">
            <a:avLst/>
          </a:prstGeom>
        </p:spPr>
      </p:pic>
      <p:sp>
        <p:nvSpPr>
          <p:cNvPr id="12" name="Shape 7"/>
          <p:cNvSpPr/>
          <p:nvPr/>
        </p:nvSpPr>
        <p:spPr>
          <a:xfrm>
            <a:off x="815975" y="4427857"/>
            <a:ext cx="4819650" cy="524510"/>
          </a:xfrm>
          <a:prstGeom prst="roundRect">
            <a:avLst>
              <a:gd name="adj" fmla="val 13923"/>
            </a:avLst>
          </a:prstGeom>
          <a:solidFill>
            <a:srgbClr val="FBFAF7"/>
          </a:solidFill>
          <a:ln w="6350">
            <a:solidFill>
              <a:srgbClr val="DDD8CC"/>
            </a:solidFill>
            <a:prstDash val="solid"/>
          </a:ln>
        </p:spPr>
      </p:sp>
      <p:sp>
        <p:nvSpPr>
          <p:cNvPr id="13" name="Text 8"/>
          <p:cNvSpPr/>
          <p:nvPr/>
        </p:nvSpPr>
        <p:spPr>
          <a:xfrm>
            <a:off x="1021080" y="4556761"/>
            <a:ext cx="454172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Attacker guesses: member or not?</a:t>
            </a:r>
            <a:endParaRPr lang="en-US" sz="1500" dirty="0"/>
          </a:p>
        </p:txBody>
      </p:sp>
      <p:sp>
        <p:nvSpPr>
          <p:cNvPr id="14" name="Text 9"/>
          <p:cNvSpPr/>
          <p:nvPr/>
        </p:nvSpPr>
        <p:spPr>
          <a:xfrm>
            <a:off x="6045200" y="2674621"/>
            <a:ext cx="5494020" cy="1168400"/>
          </a:xfrm>
          <a:prstGeom prst="rect">
            <a:avLst/>
          </a:prstGeom>
          <a:noFill/>
          <a:ln/>
        </p:spPr>
        <p:txBody>
          <a:bodyPr wrap="square" lIns="0" tIns="0" rIns="0" bIns="0" rtlCol="0" anchor="t">
            <a:normAutofit/>
          </a:bodyPr>
          <a:lstStyle/>
          <a:p>
            <a:pPr algn="l" marL="22860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Half the candidates are members, so guessing gives 50%</a:t>
            </a:r>
            <a:endParaRPr lang="en-US" sz="1500" dirty="0"/>
          </a:p>
          <a:p>
            <a:pPr algn="l" marL="22860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The attacker knows the architecture and training setup</a:t>
            </a:r>
            <a:endParaRPr lang="en-US" sz="1500" dirty="0"/>
          </a:p>
          <a:p>
            <a:pPr algn="l" marL="22860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Threshold: optimal (worst case) or from shadow models (realistic)</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E2430"/>
                </a:solidFill>
                <a:latin typeface="Source Serif 4" pitchFamily="34" charset="0"/>
                <a:ea typeface="Source Serif 4" pitchFamily="34" charset="-122"/>
                <a:cs typeface="Source Serif 4" pitchFamily="34" charset="-120"/>
              </a:rPr>
              <a:t>The attack: threshold the variance of the explanation</a:t>
            </a:r>
            <a:endParaRPr lang="en-US" sz="3000" dirty="0"/>
          </a:p>
        </p:txBody>
      </p:sp>
      <p:sp>
        <p:nvSpPr>
          <p:cNvPr id="3" name="Text 1"/>
          <p:cNvSpPr/>
          <p:nvPr/>
        </p:nvSpPr>
        <p:spPr>
          <a:xfrm>
            <a:off x="812800" y="1536700"/>
            <a:ext cx="10883392" cy="345440"/>
          </a:xfrm>
          <a:prstGeom prst="rect">
            <a:avLst/>
          </a:prstGeom>
          <a:noFill/>
          <a:ln/>
        </p:spPr>
        <p:txBody>
          <a:bodyPr wrap="square" lIns="0" tIns="0" rIns="0" bIns="0" rtlCol="0" anchor="t">
            <a:normAutofit/>
          </a:bodyPr>
          <a:lstStyle/>
          <a:p>
            <a:pPr algn="l" indent="0" marL="0">
              <a:lnSpc>
                <a:spcPts val="2520"/>
              </a:lnSpc>
              <a:buNone/>
            </a:pPr>
            <a:r>
              <a:rPr lang="en-US" sz="1800" i="1" dirty="0">
                <a:solidFill>
                  <a:srgbClr val="1E2430"/>
                </a:solidFill>
                <a:latin typeface="Source Serif 4" pitchFamily="34" charset="0"/>
                <a:ea typeface="Source Serif 4" pitchFamily="34" charset="-122"/>
                <a:cs typeface="Source Serif 4" pitchFamily="34" charset="-120"/>
              </a:rPr>
              <a:t>member(x) ⇔ Var(φ(x)) ≤ τ</a:t>
            </a:r>
            <a:endParaRPr lang="en-US" sz="1800" dirty="0"/>
          </a:p>
        </p:txBody>
      </p:sp>
      <p:pic>
        <p:nvPicPr>
          <p:cNvPr id="4" name="Image 0" descr="Sigmoid-shaped model output. A training point sits on the flat part with a small gradient; an unseen point sits on the steep part near the boundary with a large gradient.">    </p:cNvPr>
          <p:cNvPicPr>
            <a:picLocks noChangeAspect="1"/>
          </p:cNvPicPr>
          <p:nvPr/>
        </p:nvPicPr>
        <p:blipFill>
          <a:blip r:embed="rId1"/>
          <a:srcRect l="0" r="0" t="0" b="0"/>
          <a:stretch/>
        </p:blipFill>
        <p:spPr>
          <a:xfrm>
            <a:off x="812800" y="2161539"/>
            <a:ext cx="4699000" cy="2540000"/>
          </a:xfrm>
          <a:prstGeom prst="rect">
            <a:avLst/>
          </a:prstGeom>
        </p:spPr>
      </p:pic>
      <p:sp>
        <p:nvSpPr>
          <p:cNvPr id="5" name="Text 2"/>
          <p:cNvSpPr/>
          <p:nvPr/>
        </p:nvSpPr>
        <p:spPr>
          <a:xfrm>
            <a:off x="1092200" y="2161539"/>
            <a:ext cx="1701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IBM Plex Sans" pitchFamily="34" charset="0"/>
                <a:ea typeface="IBM Plex Sans" pitchFamily="34" charset="-122"/>
                <a:cs typeface="IBM Plex Sans" pitchFamily="34" charset="-120"/>
              </a:rPr>
              <a:t>model output</a:t>
            </a:r>
            <a:endParaRPr lang="en-US" sz="1200" dirty="0"/>
          </a:p>
        </p:txBody>
      </p:sp>
      <p:sp>
        <p:nvSpPr>
          <p:cNvPr id="6" name="Text 3"/>
          <p:cNvSpPr/>
          <p:nvPr/>
        </p:nvSpPr>
        <p:spPr>
          <a:xfrm>
            <a:off x="1092200" y="2542539"/>
            <a:ext cx="1831340"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B4441A"/>
                </a:solidFill>
                <a:latin typeface="IBM Plex Sans" pitchFamily="34" charset="0"/>
                <a:ea typeface="IBM Plex Sans" pitchFamily="34" charset="-122"/>
                <a:cs typeface="IBM Plex Sans" pitchFamily="34" charset="-120"/>
              </a:rPr>
              <a:t>unseen point: steep, large gradient</a:t>
            </a:r>
            <a:endParaRPr lang="en-US" sz="1300" dirty="0"/>
          </a:p>
        </p:txBody>
      </p:sp>
      <p:sp>
        <p:nvSpPr>
          <p:cNvPr id="7" name="Text 4"/>
          <p:cNvSpPr/>
          <p:nvPr/>
        </p:nvSpPr>
        <p:spPr>
          <a:xfrm>
            <a:off x="3797300" y="2796539"/>
            <a:ext cx="1765935"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E2430"/>
                </a:solidFill>
                <a:latin typeface="IBM Plex Sans" pitchFamily="34" charset="0"/>
                <a:ea typeface="IBM Plex Sans" pitchFamily="34" charset="-122"/>
                <a:cs typeface="IBM Plex Sans" pitchFamily="34" charset="-120"/>
              </a:rPr>
              <a:t>training point: flat, small gradient</a:t>
            </a:r>
            <a:endParaRPr lang="en-US" sz="1300" dirty="0"/>
          </a:p>
        </p:txBody>
      </p:sp>
      <p:sp>
        <p:nvSpPr>
          <p:cNvPr id="8" name="Text 5"/>
          <p:cNvSpPr/>
          <p:nvPr/>
        </p:nvSpPr>
        <p:spPr>
          <a:xfrm>
            <a:off x="3289300" y="4485639"/>
            <a:ext cx="22237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IBM Plex Sans" pitchFamily="34" charset="0"/>
                <a:ea typeface="IBM Plex Sans" pitchFamily="34" charset="-122"/>
                <a:cs typeface="IBM Plex Sans" pitchFamily="34" charset="-120"/>
              </a:rPr>
              <a:t>distance from boundary →</a:t>
            </a:r>
            <a:endParaRPr lang="en-US" sz="1200" dirty="0"/>
          </a:p>
        </p:txBody>
      </p:sp>
      <p:sp>
        <p:nvSpPr>
          <p:cNvPr id="9" name="Text 6"/>
          <p:cNvSpPr/>
          <p:nvPr/>
        </p:nvSpPr>
        <p:spPr>
          <a:xfrm>
            <a:off x="5918200" y="3002914"/>
            <a:ext cx="5624830" cy="882650"/>
          </a:xfrm>
          <a:prstGeom prst="rect">
            <a:avLst/>
          </a:prstGeom>
          <a:noFill/>
          <a:ln/>
        </p:spPr>
        <p:txBody>
          <a:bodyPr wrap="square" lIns="0" tIns="0" rIns="0" bIns="0" rtlCol="0" anchor="t">
            <a:normAutofit/>
          </a:bodyPr>
          <a:lstStyle/>
          <a:p>
            <a:pPr algn="l" marL="22860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Training pushes the boundary away from training points</a:t>
            </a:r>
            <a:endParaRPr lang="en-US" sz="1500" dirty="0"/>
          </a:p>
          <a:p>
            <a:pPr algn="l" marL="22860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So members sit where the output is flat</a:t>
            </a:r>
            <a:endParaRPr lang="en-US" sz="1500" dirty="0"/>
          </a:p>
          <a:p>
            <a:pPr algn="l" marL="22860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No label needed: high variance ≈ high loss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CE8DF"/>
        </a:solidFill>
      </p:bgPr>
    </p:bg>
    <p:spTree>
      <p:nvGrpSpPr>
        <p:cNvPr id="1" name=""/>
        <p:cNvGrpSpPr/>
        <p:nvPr/>
      </p:nvGrpSpPr>
      <p:grpSpPr>
        <a:xfrm>
          <a:off x="0" y="0"/>
          <a:ext cx="0" cy="0"/>
          <a:chOff x="0" y="0"/>
          <a:chExt cx="0" cy="0"/>
        </a:xfrm>
      </p:grpSpPr>
      <p:sp>
        <p:nvSpPr>
          <p:cNvPr id="2" name="Text 0"/>
          <p:cNvSpPr/>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E2430"/>
                </a:solidFill>
                <a:latin typeface="Source Serif 4" pitchFamily="34" charset="0"/>
                <a:ea typeface="Source Serif 4" pitchFamily="34" charset="-122"/>
                <a:cs typeface="Source Serif 4" pitchFamily="34" charset="-120"/>
              </a:rPr>
              <a:t>Experimental setup</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2800" y="1536700"/>
          <a:ext cx="8255000" cy="2871470"/>
        </p:xfrm>
        <a:graphic>
          <a:graphicData uri="http://schemas.openxmlformats.org/drawingml/2006/table">
            <a:tbl>
              <a:tblPr/>
              <a:tblGrid>
                <a:gridCol w="3302000"/>
                <a:gridCol w="1238250"/>
                <a:gridCol w="1238250"/>
                <a:gridCol w="1238250"/>
                <a:gridCol w="1238250"/>
              </a:tblGrid>
              <a:tr h="410210">
                <a:tc>
                  <a:txBody>
                    <a:bodyPr/>
                    <a:lstStyle/>
                    <a:p>
                      <a:pPr indent="0" marL="0">
                        <a:lnSpc>
                          <a:spcPts val="2100"/>
                        </a:lnSpc>
                        <a:buNone/>
                      </a:pPr>
                      <a:r>
                        <a:rPr lang="en-US" sz="1500" b="1" dirty="0">
                          <a:solidFill>
                            <a:srgbClr val="1E2430"/>
                          </a:solidFill>
                          <a:latin typeface="IBM Plex Sans" pitchFamily="34" charset="0"/>
                          <a:ea typeface="IBM Plex Sans" pitchFamily="34" charset="-122"/>
                          <a:cs typeface="IBM Plex Sans" pitchFamily="34" charset="-120"/>
                        </a:rPr>
                        <a:t>Dataset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solidFill>
                      <a:srgbClr val="DCD8D1"/>
                    </a:solidFill>
                  </a:tcPr>
                </a:tc>
                <a:tc>
                  <a:txBody>
                    <a:bodyPr/>
                    <a:lstStyle/>
                    <a:p>
                      <a:pPr algn="r" indent="0" marL="0">
                        <a:lnSpc>
                          <a:spcPts val="2100"/>
                        </a:lnSpc>
                        <a:buNone/>
                      </a:pPr>
                      <a:r>
                        <a:rPr lang="en-US" sz="1500" b="1" dirty="0">
                          <a:solidFill>
                            <a:srgbClr val="1E2430"/>
                          </a:solidFill>
                          <a:latin typeface="IBM Plex Sans" pitchFamily="34" charset="0"/>
                          <a:ea typeface="IBM Plex Sans" pitchFamily="34" charset="-122"/>
                          <a:cs typeface="IBM Plex Sans" pitchFamily="34" charset="-120"/>
                        </a:rPr>
                        <a:t>Features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solidFill>
                      <a:srgbClr val="DCD8D1"/>
                    </a:solidFill>
                  </a:tcPr>
                </a:tc>
                <a:tc>
                  <a:txBody>
                    <a:bodyPr/>
                    <a:lstStyle/>
                    <a:p>
                      <a:pPr algn="r" indent="0" marL="0">
                        <a:lnSpc>
                          <a:spcPts val="2100"/>
                        </a:lnSpc>
                        <a:buNone/>
                      </a:pPr>
                      <a:r>
                        <a:rPr lang="en-US" sz="1500" b="1" dirty="0">
                          <a:solidFill>
                            <a:srgbClr val="1E2430"/>
                          </a:solidFill>
                          <a:latin typeface="IBM Plex Sans" pitchFamily="34" charset="0"/>
                          <a:ea typeface="IBM Plex Sans" pitchFamily="34" charset="-122"/>
                          <a:cs typeface="IBM Plex Sans" pitchFamily="34" charset="-120"/>
                        </a:rPr>
                        <a:t>Classes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solidFill>
                      <a:srgbClr val="DCD8D1"/>
                    </a:solidFill>
                  </a:tcPr>
                </a:tc>
                <a:tc>
                  <a:txBody>
                    <a:bodyPr/>
                    <a:lstStyle/>
                    <a:p>
                      <a:pPr algn="r" indent="0" marL="0">
                        <a:lnSpc>
                          <a:spcPts val="2100"/>
                        </a:lnSpc>
                        <a:buNone/>
                      </a:pPr>
                      <a:r>
                        <a:rPr lang="en-US" sz="1500" b="1" dirty="0">
                          <a:solidFill>
                            <a:srgbClr val="1E2430"/>
                          </a:solidFill>
                          <a:latin typeface="IBM Plex Sans" pitchFamily="34" charset="0"/>
                          <a:ea typeface="IBM Plex Sans" pitchFamily="34" charset="-122"/>
                          <a:cs typeface="IBM Plex Sans" pitchFamily="34" charset="-120"/>
                        </a:rPr>
                        <a:t>Train acc.</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solidFill>
                      <a:srgbClr val="DCD8D1"/>
                    </a:solidFill>
                  </a:tcPr>
                </a:tc>
                <a:tc>
                  <a:txBody>
                    <a:bodyPr/>
                    <a:lstStyle/>
                    <a:p>
                      <a:pPr algn="r" indent="0" marL="0">
                        <a:lnSpc>
                          <a:spcPts val="2100"/>
                        </a:lnSpc>
                        <a:buNone/>
                      </a:pPr>
                      <a:r>
                        <a:rPr lang="en-US" sz="1500" b="1" dirty="0">
                          <a:solidFill>
                            <a:srgbClr val="1E2430"/>
                          </a:solidFill>
                          <a:latin typeface="IBM Plex Sans" pitchFamily="34" charset="0"/>
                          <a:ea typeface="IBM Plex Sans" pitchFamily="34" charset="-122"/>
                          <a:cs typeface="IBM Plex Sans" pitchFamily="34" charset="-120"/>
                        </a:rPr>
                        <a:t>Test acc.</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solidFill>
                      <a:srgbClr val="DCD8D1"/>
                    </a:solidFill>
                  </a:tcPr>
                </a:tc>
              </a:tr>
              <a:tr h="410210">
                <a:tc>
                  <a:txBody>
                    <a:bodyPr/>
                    <a:lstStyle/>
                    <a:p>
                      <a:pPr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Purchase (shopping)</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tcPr>
                </a:tc>
                <a:tc>
                  <a:txBody>
                    <a:bodyPr/>
                    <a:lstStyle/>
                    <a:p>
                      <a:pPr algn="r"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600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tcPr>
                </a:tc>
                <a:tc>
                  <a:txBody>
                    <a:bodyPr/>
                    <a:lstStyle/>
                    <a:p>
                      <a:pPr algn="r"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100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tcPr>
                </a:tc>
                <a:tc>
                  <a:txBody>
                    <a:bodyPr/>
                    <a:lstStyle/>
                    <a:p>
                      <a:pPr algn="r"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1.00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tcPr>
                </a:tc>
                <a:tc>
                  <a:txBody>
                    <a:bodyPr/>
                    <a:lstStyle/>
                    <a:p>
                      <a:pPr algn="r"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0.75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tcPr>
                </a:tc>
              </a:tr>
              <a:tr h="410210">
                <a:tc>
                  <a:txBody>
                    <a:bodyPr/>
                    <a:lstStyle/>
                    <a:p>
                      <a:pPr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Texas (hospital stays)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tcPr>
                </a:tc>
                <a:tc>
                  <a:txBody>
                    <a:bodyPr/>
                    <a:lstStyle/>
                    <a:p>
                      <a:pPr algn="r"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6,170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tcPr>
                </a:tc>
                <a:tc>
                  <a:txBody>
                    <a:bodyPr/>
                    <a:lstStyle/>
                    <a:p>
                      <a:pPr algn="r"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100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tcPr>
                </a:tc>
                <a:tc>
                  <a:txBody>
                    <a:bodyPr/>
                    <a:lstStyle/>
                    <a:p>
                      <a:pPr algn="r"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0.98</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tcPr>
                </a:tc>
                <a:tc>
                  <a:txBody>
                    <a:bodyPr/>
                    <a:lstStyle/>
                    <a:p>
                      <a:pPr algn="r"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0.52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tcPr>
                </a:tc>
              </a:tr>
              <a:tr h="410210">
                <a:tc>
                  <a:txBody>
                    <a:bodyPr/>
                    <a:lstStyle/>
                    <a:p>
                      <a:pPr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CIFAR-100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tcPr>
                </a:tc>
                <a:tc>
                  <a:txBody>
                    <a:bodyPr/>
                    <a:lstStyle/>
                    <a:p>
                      <a:pPr algn="r"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3,072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tcPr>
                </a:tc>
                <a:tc>
                  <a:txBody>
                    <a:bodyPr/>
                    <a:lstStyle/>
                    <a:p>
                      <a:pPr algn="r"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100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tcPr>
                </a:tc>
                <a:tc>
                  <a:txBody>
                    <a:bodyPr/>
                    <a:lstStyle/>
                    <a:p>
                      <a:pPr algn="r"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0.97</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tcPr>
                </a:tc>
                <a:tc>
                  <a:txBody>
                    <a:bodyPr/>
                    <a:lstStyle/>
                    <a:p>
                      <a:pPr algn="r"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0.29</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tcPr>
                </a:tc>
              </a:tr>
              <a:tr h="410210">
                <a:tc>
                  <a:txBody>
                    <a:bodyPr/>
                    <a:lstStyle/>
                    <a:p>
                      <a:pPr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CIFAR-10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tcPr>
                </a:tc>
                <a:tc>
                  <a:txBody>
                    <a:bodyPr/>
                    <a:lstStyle/>
                    <a:p>
                      <a:pPr algn="r"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3,072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tcPr>
                </a:tc>
                <a:tc>
                  <a:txBody>
                    <a:bodyPr/>
                    <a:lstStyle/>
                    <a:p>
                      <a:pPr algn="r"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10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tcPr>
                </a:tc>
                <a:tc>
                  <a:txBody>
                    <a:bodyPr/>
                    <a:lstStyle/>
                    <a:p>
                      <a:pPr algn="r"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0.93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tcPr>
                </a:tc>
                <a:tc>
                  <a:txBody>
                    <a:bodyPr/>
                    <a:lstStyle/>
                    <a:p>
                      <a:pPr algn="r"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0.53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tcPr>
                </a:tc>
              </a:tr>
              <a:tr h="410210">
                <a:tc>
                  <a:txBody>
                    <a:bodyPr/>
                    <a:lstStyle/>
                    <a:p>
                      <a:pPr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Diabetic Hospital</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tcPr>
                </a:tc>
                <a:tc>
                  <a:txBody>
                    <a:bodyPr/>
                    <a:lstStyle/>
                    <a:p>
                      <a:pPr algn="r"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127</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tcPr>
                </a:tc>
                <a:tc>
                  <a:txBody>
                    <a:bodyPr/>
                    <a:lstStyle/>
                    <a:p>
                      <a:pPr algn="r"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tcPr>
                </a:tc>
                <a:tc>
                  <a:txBody>
                    <a:bodyPr/>
                    <a:lstStyle/>
                    <a:p>
                      <a:pPr algn="r"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0.64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tcPr>
                </a:tc>
                <a:tc>
                  <a:txBody>
                    <a:bodyPr/>
                    <a:lstStyle/>
                    <a:p>
                      <a:pPr algn="r"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0.61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tcPr>
                </a:tc>
              </a:tr>
              <a:tr h="410210">
                <a:tc>
                  <a:txBody>
                    <a:bodyPr/>
                    <a:lstStyle/>
                    <a:p>
                      <a:pPr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UCI Adult (census)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tcPr>
                </a:tc>
                <a:tc>
                  <a:txBody>
                    <a:bodyPr/>
                    <a:lstStyle/>
                    <a:p>
                      <a:pPr algn="r"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104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tcPr>
                </a:tc>
                <a:tc>
                  <a:txBody>
                    <a:bodyPr/>
                    <a:lstStyle/>
                    <a:p>
                      <a:pPr algn="r"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tcPr>
                </a:tc>
                <a:tc>
                  <a:txBody>
                    <a:bodyPr/>
                    <a:lstStyle/>
                    <a:p>
                      <a:pPr algn="r"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0.85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tcPr>
                </a:tc>
                <a:tc>
                  <a:txBody>
                    <a:bodyPr/>
                    <a:lstStyle/>
                    <a:p>
                      <a:pPr algn="r"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0.85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DB9"/>
                      </a:solidFill>
                      <a:prstDash val="solid"/>
                      <a:round/>
                      <a:headEnd type="none" w="med" len="med"/>
                      <a:tailEnd type="none" w="med" len="med"/>
                    </a:lnL>
                    <a:lnR w="12700" cap="flat" cmpd="sng" algn="ctr">
                      <a:solidFill>
                        <a:srgbClr val="BFBDB9"/>
                      </a:solidFill>
                      <a:prstDash val="solid"/>
                      <a:round/>
                      <a:headEnd type="none" w="med" len="med"/>
                      <a:tailEnd type="none" w="med" len="med"/>
                    </a:lnR>
                    <a:lnT w="12700" cap="flat" cmpd="sng" algn="ctr">
                      <a:solidFill>
                        <a:srgbClr val="BFBDB9"/>
                      </a:solidFill>
                      <a:prstDash val="solid"/>
                      <a:round/>
                      <a:headEnd type="none" w="med" len="med"/>
                      <a:tailEnd type="none" w="med" len="med"/>
                    </a:lnT>
                    <a:lnB w="12700" cap="flat" cmpd="sng" algn="ctr">
                      <a:solidFill>
                        <a:srgbClr val="BFBDB9"/>
                      </a:solidFill>
                      <a:prstDash val="solid"/>
                      <a:round/>
                      <a:headEnd type="none" w="med" len="med"/>
                      <a:tailEnd type="none" w="med" len="med"/>
                    </a:lnB>
                  </a:tcPr>
                </a:tc>
              </a:tr>
            </a:tbl>
          </a:graphicData>
        </a:graphic>
      </p:graphicFrame>
      <p:sp>
        <p:nvSpPr>
          <p:cNvPr id="4" name="Text 1"/>
          <p:cNvSpPr/>
          <p:nvPr/>
        </p:nvSpPr>
        <p:spPr>
          <a:xfrm>
            <a:off x="812800" y="4723132"/>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C"/>
                </a:solidFill>
                <a:latin typeface="IBM Plex Sans" pitchFamily="34" charset="0"/>
                <a:ea typeface="IBM Plex Sans" pitchFamily="34" charset="-122"/>
                <a:cs typeface="IBM Plex Sans" pitchFamily="34" charset="-120"/>
              </a:rPr>
              <a:t>Tanh MLPs for the tabular data, a CNN and AlexNet for CIFAR. 100 attacks per dataset.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E2430"/>
                </a:solidFill>
                <a:latin typeface="Source Serif 4" pitchFamily="34" charset="0"/>
                <a:ea typeface="Source Serif 4" pitchFamily="34" charset="-122"/>
                <a:cs typeface="Source Serif 4" pitchFamily="34" charset="-120"/>
              </a:rPr>
              <a:t>Results: backpropagation-based explanations</a:t>
            </a:r>
            <a:endParaRPr lang="en-US" sz="3000" dirty="0"/>
          </a:p>
        </p:txBody>
      </p:sp>
      <p:sp>
        <p:nvSpPr>
          <p:cNvPr id="3" name="Shape 1"/>
          <p:cNvSpPr/>
          <p:nvPr/>
        </p:nvSpPr>
        <p:spPr>
          <a:xfrm>
            <a:off x="815975" y="1539875"/>
            <a:ext cx="10560050" cy="3902710"/>
          </a:xfrm>
          <a:prstGeom prst="roundRect">
            <a:avLst>
              <a:gd name="adj" fmla="val 1871"/>
            </a:avLst>
          </a:prstGeom>
          <a:solidFill>
            <a:srgbClr val="FFFFFF"/>
          </a:solidFill>
          <a:ln w="6350">
            <a:solidFill>
              <a:srgbClr val="DDD8CC"/>
            </a:solidFill>
            <a:prstDash val="solid"/>
          </a:ln>
        </p:spPr>
      </p:sp>
      <p:pic>
        <p:nvPicPr>
          <p:cNvPr id="4" name="Image 0" descr="Bar chart of optimal-threshold attack accuracy per dataset for loss, prediction variance and gradient variance">    </p:cNvPr>
          <p:cNvPicPr>
            <a:picLocks noChangeAspect="1"/>
          </p:cNvPicPr>
          <p:nvPr/>
        </p:nvPicPr>
        <p:blipFill>
          <a:blip r:embed="rId1"/>
          <a:srcRect l="0" r="0" t="-111" b="-111"/>
          <a:stretch/>
        </p:blipFill>
        <p:spPr>
          <a:xfrm>
            <a:off x="1651000" y="1668782"/>
            <a:ext cx="8890000" cy="3644900"/>
          </a:xfrm>
          <a:prstGeom prst="rect">
            <a:avLst/>
          </a:prstGeom>
        </p:spPr>
      </p:pic>
      <p:sp>
        <p:nvSpPr>
          <p:cNvPr id="5" name="Text 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IBM Plex Sans" pitchFamily="34" charset="0"/>
                <a:ea typeface="IBM Plex Sans" pitchFamily="34" charset="-122"/>
                <a:cs typeface="IBM Plex Sans" pitchFamily="34" charset="-120"/>
              </a:rPr>
              <a:t>Re-plotted from Fig. 1 of the paper (optimal threshold); values read from the published chart. Bars start at 50%.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E2430"/>
                </a:solidFill>
                <a:latin typeface="Source Serif 4" pitchFamily="34" charset="0"/>
                <a:ea typeface="Source Serif 4" pitchFamily="34" charset="-122"/>
                <a:cs typeface="Source Serif 4" pitchFamily="34" charset="-120"/>
              </a:rPr>
              <a:t>Why does it leak?</a:t>
            </a:r>
            <a:endParaRPr lang="en-US" sz="3000" dirty="0"/>
          </a:p>
        </p:txBody>
      </p:sp>
      <p:sp>
        <p:nvSpPr>
          <p:cNvPr id="3" name="Text 1"/>
          <p:cNvSpPr/>
          <p:nvPr/>
        </p:nvSpPr>
        <p:spPr>
          <a:xfrm>
            <a:off x="812800" y="2354579"/>
            <a:ext cx="4620209"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F5C"/>
                </a:solidFill>
                <a:latin typeface="IBM Plex Sans" pitchFamily="34" charset="0"/>
                <a:ea typeface="IBM Plex Sans" pitchFamily="34" charset="-122"/>
                <a:cs typeface="IBM Plex Sans" pitchFamily="34" charset="-120"/>
              </a:rPr>
              <a:t>On synthetic data there is no signal below about 100 features. That is why Adult (104) and Hospital (127) fail.</a:t>
            </a:r>
            <a:endParaRPr lang="en-US" sz="1600" dirty="0"/>
          </a:p>
        </p:txBody>
      </p:sp>
      <p:sp>
        <p:nvSpPr>
          <p:cNvPr id="4" name="Text 2"/>
          <p:cNvSpPr/>
          <p:nvPr/>
        </p:nvSpPr>
        <p:spPr>
          <a:xfrm>
            <a:off x="812800" y="3411221"/>
            <a:ext cx="4620209"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F5C"/>
                </a:solidFill>
                <a:latin typeface="IBM Plex Sans" pitchFamily="34" charset="0"/>
                <a:ea typeface="IBM Plex Sans" pitchFamily="34" charset="-122"/>
                <a:cs typeface="IBM Plex Sans" pitchFamily="34" charset="-120"/>
              </a:rPr>
              <a:t>The more the model overfits, the better the attack works (right).</a:t>
            </a:r>
            <a:endParaRPr lang="en-US" sz="1600" dirty="0"/>
          </a:p>
        </p:txBody>
      </p:sp>
      <p:sp>
        <p:nvSpPr>
          <p:cNvPr id="5" name="Shape 3"/>
          <p:cNvSpPr/>
          <p:nvPr/>
        </p:nvSpPr>
        <p:spPr>
          <a:xfrm>
            <a:off x="5708015" y="1539875"/>
            <a:ext cx="5668010" cy="3255010"/>
          </a:xfrm>
          <a:prstGeom prst="rect">
            <a:avLst/>
          </a:prstGeom>
          <a:solidFill>
            <a:srgbClr val="FFFFFF"/>
          </a:solidFill>
          <a:ln w="6350">
            <a:solidFill>
              <a:srgbClr val="DDD8CC"/>
            </a:solidFill>
            <a:prstDash val="solid"/>
          </a:ln>
        </p:spPr>
      </p:sp>
      <p:pic>
        <p:nvPicPr>
          <p:cNvPr id="6" name="Image 0" descr="Figure 5 from the paper: attack accuracy rises with the number of training epochs for Texas and Purchase, CIFAR-10 stays flat">    </p:cNvPr>
          <p:cNvPicPr>
            <a:picLocks noChangeAspect="1"/>
          </p:cNvPicPr>
          <p:nvPr/>
        </p:nvPicPr>
        <p:blipFill>
          <a:blip r:embed="rId1"/>
          <a:srcRect l="-10" r="-10" t="0" b="0"/>
          <a:stretch/>
        </p:blipFill>
        <p:spPr>
          <a:xfrm>
            <a:off x="5811520" y="1643379"/>
            <a:ext cx="5461000" cy="3048000"/>
          </a:xfrm>
          <a:prstGeom prst="rect">
            <a:avLst/>
          </a:prstGeom>
        </p:spPr>
      </p:pic>
      <p:sp>
        <p:nvSpPr>
          <p:cNvPr id="7" name="Text 4"/>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IBM Plex Sans" pitchFamily="34" charset="0"/>
                <a:ea typeface="IBM Plex Sans" pitchFamily="34" charset="-122"/>
                <a:cs typeface="IBM Plex Sans" pitchFamily="34" charset="-120"/>
              </a:rPr>
              <a:t>Right: Fig. 5 from Shokri et al. (2021).</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CE8DF"/>
        </a:solidFill>
      </p:bgPr>
    </p:bg>
    <p:spTree>
      <p:nvGrpSpPr>
        <p:cNvPr id="1" name=""/>
        <p:cNvGrpSpPr/>
        <p:nvPr/>
      </p:nvGrpSpPr>
      <p:grpSpPr>
        <a:xfrm>
          <a:off x="0" y="0"/>
          <a:ext cx="0" cy="0"/>
          <a:chOff x="0" y="0"/>
          <a:chExt cx="0" cy="0"/>
        </a:xfrm>
      </p:grpSpPr>
      <p:sp>
        <p:nvSpPr>
          <p:cNvPr id="2" name="Text 0"/>
          <p:cNvSpPr/>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E2430"/>
                </a:solidFill>
                <a:latin typeface="Source Serif 4" pitchFamily="34" charset="0"/>
                <a:ea typeface="Source Serif 4" pitchFamily="34" charset="-122"/>
                <a:cs typeface="Source Serif 4" pitchFamily="34" charset="-120"/>
              </a:rPr>
              <a:t>SmoothGrad and LIME</a:t>
            </a:r>
            <a:endParaRPr lang="en-US" sz="3000" dirty="0"/>
          </a:p>
        </p:txBody>
      </p:sp>
      <p:sp>
        <p:nvSpPr>
          <p:cNvPr id="3" name="Text 1"/>
          <p:cNvSpPr/>
          <p:nvPr/>
        </p:nvSpPr>
        <p:spPr>
          <a:xfrm>
            <a:off x="812800" y="1614171"/>
            <a:ext cx="3401060"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E2430"/>
                </a:solidFill>
                <a:latin typeface="Source Serif 4" pitchFamily="34" charset="0"/>
                <a:ea typeface="Source Serif 4" pitchFamily="34" charset="-122"/>
                <a:cs typeface="Source Serif 4" pitchFamily="34" charset="-120"/>
              </a:rPr>
              <a:t>≈ 50%</a:t>
            </a:r>
            <a:endParaRPr lang="en-US" sz="4800" dirty="0"/>
          </a:p>
        </p:txBody>
      </p:sp>
      <p:sp>
        <p:nvSpPr>
          <p:cNvPr id="4" name="Text 2"/>
          <p:cNvSpPr/>
          <p:nvPr/>
        </p:nvSpPr>
        <p:spPr>
          <a:xfrm>
            <a:off x="812800" y="2335529"/>
            <a:ext cx="34010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attack accuracy in every setting tested</a:t>
            </a:r>
            <a:endParaRPr lang="en-US" sz="1500" dirty="0"/>
          </a:p>
        </p:txBody>
      </p:sp>
      <p:sp>
        <p:nvSpPr>
          <p:cNvPr id="5" name="Text 3"/>
          <p:cNvSpPr/>
          <p:nvPr/>
        </p:nvSpPr>
        <p:spPr>
          <a:xfrm>
            <a:off x="4521200" y="1536700"/>
            <a:ext cx="7063740" cy="1168400"/>
          </a:xfrm>
          <a:prstGeom prst="rect">
            <a:avLst/>
          </a:prstGeom>
          <a:noFill/>
          <a:ln/>
        </p:spPr>
        <p:txBody>
          <a:bodyPr wrap="square" lIns="0" tIns="0" rIns="0" bIns="0" rtlCol="0" anchor="t">
            <a:normAutofit/>
          </a:bodyPr>
          <a:lstStyle/>
          <a:p>
            <a:pPr algn="l" marL="22860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The authors’ guess: they query points off the data manifold, which say nothing about the training set</a:t>
            </a:r>
            <a:endParaRPr lang="en-US" sz="1500" dirty="0"/>
          </a:p>
          <a:p>
            <a:pPr algn="l" marL="22860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But that also makes them less faithful and easier to fool (Slack et al. 2020)</a:t>
            </a:r>
            <a:endParaRPr lang="en-US" sz="1500" dirty="0"/>
          </a:p>
          <a:p>
            <a:pPr algn="l" marL="22860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Odd: the gradient attack hit 84% on Texas in the small LIME setup</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E2430"/>
                </a:solidFill>
                <a:latin typeface="Source Serif 4" pitchFamily="34" charset="0"/>
                <a:ea typeface="Source Serif 4" pitchFamily="34" charset="-122"/>
                <a:cs typeface="Source Serif 4" pitchFamily="34" charset="-120"/>
              </a:rPr>
              <a:t>Example-based explanations give the training data away</a:t>
            </a:r>
            <a:endParaRPr lang="en-US" sz="3000" dirty="0"/>
          </a:p>
        </p:txBody>
      </p:sp>
      <p:sp>
        <p:nvSpPr>
          <p:cNvPr id="3" name="Shape 1"/>
          <p:cNvSpPr/>
          <p:nvPr/>
        </p:nvSpPr>
        <p:spPr>
          <a:xfrm>
            <a:off x="815975" y="1539875"/>
            <a:ext cx="3380264" cy="1817370"/>
          </a:xfrm>
          <a:prstGeom prst="roundRect">
            <a:avLst>
              <a:gd name="adj" fmla="val 4018"/>
            </a:avLst>
          </a:prstGeom>
          <a:solidFill>
            <a:srgbClr val="FBFAF7"/>
          </a:solidFill>
          <a:ln w="6350">
            <a:solidFill>
              <a:srgbClr val="DDD8CC"/>
            </a:solidFill>
            <a:prstDash val="solid"/>
          </a:ln>
        </p:spPr>
      </p:sp>
      <p:sp>
        <p:nvSpPr>
          <p:cNvPr id="4" name="Text 2"/>
          <p:cNvSpPr/>
          <p:nvPr/>
        </p:nvSpPr>
        <p:spPr>
          <a:xfrm>
            <a:off x="1071880" y="1795779"/>
            <a:ext cx="2954507"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B4441A"/>
                </a:solidFill>
                <a:latin typeface="Source Serif 4" pitchFamily="34" charset="0"/>
                <a:ea typeface="Source Serif 4" pitchFamily="34" charset="-122"/>
                <a:cs typeface="Source Serif 4" pitchFamily="34" charset="-120"/>
              </a:rPr>
              <a:t>63%</a:t>
            </a:r>
            <a:endParaRPr lang="en-US" sz="4800" dirty="0"/>
          </a:p>
        </p:txBody>
      </p:sp>
      <p:sp>
        <p:nvSpPr>
          <p:cNvPr id="5" name="Text 3"/>
          <p:cNvSpPr/>
          <p:nvPr/>
        </p:nvSpPr>
        <p:spPr>
          <a:xfrm>
            <a:off x="1071880" y="2567942"/>
            <a:ext cx="295450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of Hospital training points appear in their own top-5 explanation</a:t>
            </a:r>
            <a:endParaRPr lang="en-US" sz="1500" dirty="0"/>
          </a:p>
        </p:txBody>
      </p:sp>
      <p:sp>
        <p:nvSpPr>
          <p:cNvPr id="6" name="Shape 4"/>
          <p:cNvSpPr/>
          <p:nvPr/>
        </p:nvSpPr>
        <p:spPr>
          <a:xfrm>
            <a:off x="4405789" y="1539875"/>
            <a:ext cx="3380343" cy="1817370"/>
          </a:xfrm>
          <a:prstGeom prst="roundRect">
            <a:avLst>
              <a:gd name="adj" fmla="val 4018"/>
            </a:avLst>
          </a:prstGeom>
          <a:solidFill>
            <a:srgbClr val="FBFAF7"/>
          </a:solidFill>
          <a:ln w="6350">
            <a:solidFill>
              <a:srgbClr val="DDD8CC"/>
            </a:solidFill>
            <a:prstDash val="solid"/>
          </a:ln>
        </p:spPr>
      </p:sp>
      <p:sp>
        <p:nvSpPr>
          <p:cNvPr id="7" name="Text 5"/>
          <p:cNvSpPr/>
          <p:nvPr/>
        </p:nvSpPr>
        <p:spPr>
          <a:xfrm>
            <a:off x="4661694" y="1795779"/>
            <a:ext cx="2954589"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B4441A"/>
                </a:solidFill>
                <a:latin typeface="Source Serif 4" pitchFamily="34" charset="0"/>
                <a:ea typeface="Source Serif 4" pitchFamily="34" charset="-122"/>
                <a:cs typeface="Source Serif 4" pitchFamily="34" charset="-120"/>
              </a:rPr>
              <a:t>99.4%</a:t>
            </a:r>
            <a:endParaRPr lang="en-US" sz="4800" dirty="0"/>
          </a:p>
        </p:txBody>
      </p:sp>
      <p:sp>
        <p:nvSpPr>
          <p:cNvPr id="8" name="Text 6"/>
          <p:cNvSpPr/>
          <p:nvPr/>
        </p:nvSpPr>
        <p:spPr>
          <a:xfrm>
            <a:off x="4661694" y="2567942"/>
            <a:ext cx="295458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of Dog/Fish training images reconstructed</a:t>
            </a:r>
            <a:endParaRPr lang="en-US" sz="1500" dirty="0"/>
          </a:p>
        </p:txBody>
      </p:sp>
      <p:sp>
        <p:nvSpPr>
          <p:cNvPr id="9" name="Shape 7"/>
          <p:cNvSpPr/>
          <p:nvPr/>
        </p:nvSpPr>
        <p:spPr>
          <a:xfrm>
            <a:off x="7995682" y="1539875"/>
            <a:ext cx="3380343" cy="1817370"/>
          </a:xfrm>
          <a:prstGeom prst="roundRect">
            <a:avLst>
              <a:gd name="adj" fmla="val 4018"/>
            </a:avLst>
          </a:prstGeom>
          <a:solidFill>
            <a:srgbClr val="FBFAF7"/>
          </a:solidFill>
          <a:ln w="6350">
            <a:solidFill>
              <a:srgbClr val="DDD8CC"/>
            </a:solidFill>
            <a:prstDash val="solid"/>
          </a:ln>
        </p:spPr>
      </p:sp>
      <p:sp>
        <p:nvSpPr>
          <p:cNvPr id="10" name="Text 8"/>
          <p:cNvSpPr/>
          <p:nvPr/>
        </p:nvSpPr>
        <p:spPr>
          <a:xfrm>
            <a:off x="8251587" y="1795779"/>
            <a:ext cx="2954589"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B4441A"/>
                </a:solidFill>
                <a:latin typeface="Source Serif 4" pitchFamily="34" charset="0"/>
                <a:ea typeface="Source Serif 4" pitchFamily="34" charset="-122"/>
                <a:cs typeface="Source Serif 4" pitchFamily="34" charset="-120"/>
              </a:rPr>
              <a:t>4.6%</a:t>
            </a:r>
            <a:endParaRPr lang="en-US" sz="4800" dirty="0"/>
          </a:p>
        </p:txBody>
      </p:sp>
      <p:sp>
        <p:nvSpPr>
          <p:cNvPr id="11" name="Text 9"/>
          <p:cNvSpPr/>
          <p:nvPr/>
        </p:nvSpPr>
        <p:spPr>
          <a:xfrm>
            <a:off x="8251587" y="2567942"/>
            <a:ext cx="295458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of Adult, limited by the number of features</a:t>
            </a:r>
            <a:endParaRPr lang="en-US" sz="1500" dirty="0"/>
          </a:p>
        </p:txBody>
      </p:sp>
      <p:sp>
        <p:nvSpPr>
          <p:cNvPr id="12" name="Text 10"/>
          <p:cNvSpPr/>
          <p:nvPr/>
        </p:nvSpPr>
        <p:spPr>
          <a:xfrm>
            <a:off x="812800" y="366522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IBM Plex Sans" pitchFamily="34" charset="0"/>
                <a:ea typeface="IBM Plex Sans" pitchFamily="34" charset="-122"/>
                <a:cs typeface="IBM Plex Sans" pitchFamily="34" charset="-120"/>
              </a:rPr>
              <a:t>Logistic regression and last-layer models, about 2,000 training points.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CE8DF"/>
        </a:solidFill>
      </p:bgPr>
    </p:bg>
    <p:spTree>
      <p:nvGrpSpPr>
        <p:cNvPr id="1" name=""/>
        <p:cNvGrpSpPr/>
        <p:nvPr/>
      </p:nvGrpSpPr>
      <p:grpSpPr>
        <a:xfrm>
          <a:off x="0" y="0"/>
          <a:ext cx="0" cy="0"/>
          <a:chOff x="0" y="0"/>
          <a:chExt cx="0" cy="0"/>
        </a:xfrm>
      </p:grpSpPr>
      <p:sp>
        <p:nvSpPr>
          <p:cNvPr id="2" name="Text 0"/>
          <p:cNvSpPr/>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E2430"/>
                </a:solidFill>
                <a:latin typeface="Source Serif 4" pitchFamily="34" charset="0"/>
                <a:ea typeface="Source Serif 4" pitchFamily="34" charset="-122"/>
                <a:cs typeface="Source Serif 4" pitchFamily="34" charset="-120"/>
              </a:rPr>
              <a:t>Small groups are revealed far more often</a:t>
            </a:r>
            <a:endParaRPr lang="en-US" sz="3000" dirty="0"/>
          </a:p>
        </p:txBody>
      </p:sp>
      <p:sp>
        <p:nvSpPr>
          <p:cNvPr id="3" name="Text 1"/>
          <p:cNvSpPr/>
          <p:nvPr/>
        </p:nvSpPr>
        <p:spPr>
          <a:xfrm>
            <a:off x="812800" y="2656204"/>
            <a:ext cx="5666689"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F5C"/>
                </a:solidFill>
                <a:latin typeface="IBM Plex Sans" pitchFamily="34" charset="0"/>
                <a:ea typeface="IBM Plex Sans" pitchFamily="34" charset="-122"/>
                <a:cs typeface="IBM Plex Sans" pitchFamily="34" charset="-120"/>
              </a:rPr>
              <a:t>Birds are 0.6% of the Dog/Fish images, and 84% of them are revealed at k = 5 (24% overall).</a:t>
            </a:r>
            <a:endParaRPr lang="en-US" sz="1600" dirty="0"/>
          </a:p>
        </p:txBody>
      </p:sp>
      <p:sp>
        <p:nvSpPr>
          <p:cNvPr id="4" name="Text 2"/>
          <p:cNvSpPr/>
          <p:nvPr/>
        </p:nvSpPr>
        <p:spPr>
          <a:xfrm>
            <a:off x="812800" y="3428367"/>
            <a:ext cx="5666689"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F5C"/>
                </a:solidFill>
                <a:latin typeface="IBM Plex Sans" pitchFamily="34" charset="0"/>
                <a:ea typeface="IBM Plex Sans" pitchFamily="34" charset="-122"/>
                <a:cs typeface="IBM Plex Sans" pitchFamily="34" charset="-120"/>
              </a:rPr>
              <a:t>Every child aged 0–10 in the Hospital data is revealed at k = 5.</a:t>
            </a:r>
            <a:endParaRPr lang="en-US" sz="1600" dirty="0"/>
          </a:p>
        </p:txBody>
      </p:sp>
      <p:sp>
        <p:nvSpPr>
          <p:cNvPr id="5" name="Text 3"/>
          <p:cNvSpPr/>
          <p:nvPr/>
        </p:nvSpPr>
        <p:spPr>
          <a:xfrm>
            <a:off x="812800" y="4200525"/>
            <a:ext cx="5666689"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E2430"/>
                </a:solidFill>
                <a:latin typeface="IBM Plex Sans" pitchFamily="34" charset="0"/>
                <a:ea typeface="IBM Plex Sans" pitchFamily="34" charset="-122"/>
                <a:cs typeface="IBM Plex Sans" pitchFamily="34" charset="-120"/>
              </a:rPr>
              <a:t>But 0.2% of 2,000 points is about four people.</a:t>
            </a:r>
            <a:endParaRPr lang="en-US" sz="1600" dirty="0"/>
          </a:p>
        </p:txBody>
      </p:sp>
      <p:sp>
        <p:nvSpPr>
          <p:cNvPr id="6" name="Shape 4"/>
          <p:cNvSpPr/>
          <p:nvPr/>
        </p:nvSpPr>
        <p:spPr>
          <a:xfrm>
            <a:off x="6724015" y="1539875"/>
            <a:ext cx="4652010" cy="4061460"/>
          </a:xfrm>
          <a:prstGeom prst="rect">
            <a:avLst/>
          </a:prstGeom>
          <a:solidFill>
            <a:srgbClr val="FFFFFF"/>
          </a:solidFill>
          <a:ln w="6350">
            <a:solidFill>
              <a:srgbClr val="DDD8CC"/>
            </a:solidFill>
            <a:prstDash val="solid"/>
          </a:ln>
        </p:spPr>
      </p:sp>
      <p:pic>
        <p:nvPicPr>
          <p:cNvPr id="7" name="Image 0" descr="Table 3 (a) and (b) from the paper: share of training points revealed as their own explanation, by group, for Dog/Fish and Hospital">    </p:cNvPr>
          <p:cNvPicPr>
            <a:picLocks noChangeAspect="1"/>
          </p:cNvPicPr>
          <p:nvPr/>
        </p:nvPicPr>
        <p:blipFill>
          <a:blip r:embed="rId1"/>
          <a:srcRect l="-3" r="-3" t="0" b="0"/>
          <a:stretch/>
        </p:blipFill>
        <p:spPr>
          <a:xfrm>
            <a:off x="6827520" y="1643379"/>
            <a:ext cx="4445000" cy="3854450"/>
          </a:xfrm>
          <a:prstGeom prst="rect">
            <a:avLst/>
          </a:prstGeom>
        </p:spPr>
      </p:pic>
      <p:sp>
        <p:nvSpPr>
          <p:cNvPr id="8" name="Text 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IBM Plex Sans" pitchFamily="34" charset="0"/>
                <a:ea typeface="IBM Plex Sans" pitchFamily="34" charset="-122"/>
                <a:cs typeface="IBM Plex Sans" pitchFamily="34" charset="-120"/>
              </a:rPr>
              <a:t>Right: Table 3 (a, b) from Shokri et al. (2021).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E2430"/>
                </a:solidFill>
                <a:latin typeface="Source Serif 4" pitchFamily="34" charset="0"/>
                <a:ea typeface="Source Serif 4" pitchFamily="34" charset="-122"/>
                <a:cs typeface="Source Serif 4" pitchFamily="34" charset="-120"/>
              </a:rPr>
              <a:t>My assessment</a:t>
            </a:r>
            <a:endParaRPr lang="en-US" sz="3000" dirty="0"/>
          </a:p>
        </p:txBody>
      </p:sp>
      <p:sp>
        <p:nvSpPr>
          <p:cNvPr id="3" name="Shape 1"/>
          <p:cNvSpPr/>
          <p:nvPr/>
        </p:nvSpPr>
        <p:spPr>
          <a:xfrm>
            <a:off x="815975" y="1539875"/>
            <a:ext cx="5175250" cy="4502150"/>
          </a:xfrm>
          <a:prstGeom prst="roundRect">
            <a:avLst>
              <a:gd name="adj" fmla="val 1622"/>
            </a:avLst>
          </a:prstGeom>
          <a:solidFill>
            <a:srgbClr val="FBFAF7"/>
          </a:solidFill>
          <a:ln w="6350">
            <a:solidFill>
              <a:srgbClr val="DDD8CC"/>
            </a:solidFill>
            <a:prstDash val="solid"/>
          </a:ln>
        </p:spPr>
      </p:sp>
      <p:sp>
        <p:nvSpPr>
          <p:cNvPr id="4" name="Text 2"/>
          <p:cNvSpPr/>
          <p:nvPr/>
        </p:nvSpPr>
        <p:spPr>
          <a:xfrm>
            <a:off x="1071880" y="1795779"/>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2430"/>
                </a:solidFill>
                <a:latin typeface="IBM Plex Sans" pitchFamily="34" charset="0"/>
                <a:ea typeface="IBM Plex Sans" pitchFamily="34" charset="-122"/>
                <a:cs typeface="IBM Plex Sans" pitchFamily="34" charset="-120"/>
              </a:rPr>
              <a:t>Good</a:t>
            </a:r>
            <a:endParaRPr lang="en-US" sz="1800" dirty="0"/>
          </a:p>
        </p:txBody>
      </p:sp>
      <p:sp>
        <p:nvSpPr>
          <p:cNvPr id="5" name="Text 3"/>
          <p:cNvSpPr/>
          <p:nvPr/>
        </p:nvSpPr>
        <p:spPr>
          <a:xfrm>
            <a:off x="1071880" y="2171700"/>
            <a:ext cx="4803343" cy="1168400"/>
          </a:xfrm>
          <a:prstGeom prst="rect">
            <a:avLst/>
          </a:prstGeom>
          <a:noFill/>
          <a:ln/>
        </p:spPr>
        <p:txBody>
          <a:bodyPr wrap="square" lIns="0" tIns="0" rIns="0" bIns="0" rtlCol="0" anchor="t">
            <a:normAutofit/>
          </a:bodyPr>
          <a:lstStyle/>
          <a:p>
            <a:pPr algn="l" marL="22860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Started the research on explanation privacy</a:t>
            </a:r>
            <a:endParaRPr lang="en-US" sz="1500" dirty="0"/>
          </a:p>
          <a:p>
            <a:pPr algn="l" marL="22860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Broad: 6 datasets, 7 methods, plus theory</a:t>
            </a:r>
            <a:endParaRPr lang="en-US" sz="1500" dirty="0"/>
          </a:p>
          <a:p>
            <a:pPr algn="l" marL="22860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Explains </a:t>
            </a:r>
            <a:r>
              <a:rPr lang="en-US" sz="1500" i="1" dirty="0">
                <a:solidFill>
                  <a:srgbClr val="4A4F5C"/>
                </a:solidFill>
                <a:latin typeface="IBM Plex Sans" pitchFamily="34" charset="0"/>
                <a:ea typeface="IBM Plex Sans" pitchFamily="34" charset="-122"/>
                <a:cs typeface="IBM Plex Sans" pitchFamily="34" charset="-120"/>
              </a:rPr>
              <a:t>when</a:t>
            </a:r>
            <a:r>
              <a:rPr lang="en-US" sz="1500" dirty="0">
                <a:solidFill>
                  <a:srgbClr val="4A4F5C"/>
                </a:solidFill>
                <a:latin typeface="IBM Plex Sans" pitchFamily="34" charset="0"/>
                <a:ea typeface="IBM Plex Sans" pitchFamily="34" charset="-122"/>
                <a:cs typeface="IBM Plex Sans" pitchFamily="34" charset="-120"/>
              </a:rPr>
              <a:t> leakage happens</a:t>
            </a:r>
            <a:endParaRPr lang="en-US" sz="1500" dirty="0"/>
          </a:p>
          <a:p>
            <a:pPr algn="l" marL="22860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Simple attack, no labels needed</a:t>
            </a:r>
            <a:endParaRPr lang="en-US" sz="1500" dirty="0"/>
          </a:p>
        </p:txBody>
      </p:sp>
      <p:sp>
        <p:nvSpPr>
          <p:cNvPr id="6" name="Shape 4"/>
          <p:cNvSpPr/>
          <p:nvPr/>
        </p:nvSpPr>
        <p:spPr>
          <a:xfrm>
            <a:off x="6200775" y="1539875"/>
            <a:ext cx="5175250" cy="4502150"/>
          </a:xfrm>
          <a:prstGeom prst="roundRect">
            <a:avLst>
              <a:gd name="adj" fmla="val 1622"/>
            </a:avLst>
          </a:prstGeom>
          <a:solidFill>
            <a:srgbClr val="FBFAF7"/>
          </a:solidFill>
          <a:ln w="6350">
            <a:solidFill>
              <a:srgbClr val="DDD8CC"/>
            </a:solidFill>
            <a:prstDash val="solid"/>
          </a:ln>
        </p:spPr>
      </p:sp>
      <p:sp>
        <p:nvSpPr>
          <p:cNvPr id="7" name="Text 5"/>
          <p:cNvSpPr/>
          <p:nvPr/>
        </p:nvSpPr>
        <p:spPr>
          <a:xfrm>
            <a:off x="6456680" y="1795779"/>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4441A"/>
                </a:solidFill>
                <a:latin typeface="IBM Plex Sans" pitchFamily="34" charset="0"/>
                <a:ea typeface="IBM Plex Sans" pitchFamily="34" charset="-122"/>
                <a:cs typeface="IBM Plex Sans" pitchFamily="34" charset="-120"/>
              </a:rPr>
              <a:t>Weak</a:t>
            </a:r>
            <a:endParaRPr lang="en-US" sz="1800" dirty="0"/>
          </a:p>
        </p:txBody>
      </p:sp>
      <p:sp>
        <p:nvSpPr>
          <p:cNvPr id="8" name="Text 6"/>
          <p:cNvSpPr/>
          <p:nvPr/>
        </p:nvSpPr>
        <p:spPr>
          <a:xfrm>
            <a:off x="6456680" y="2171700"/>
            <a:ext cx="4803343" cy="1454150"/>
          </a:xfrm>
          <a:prstGeom prst="rect">
            <a:avLst/>
          </a:prstGeom>
          <a:noFill/>
          <a:ln/>
        </p:spPr>
        <p:txBody>
          <a:bodyPr wrap="square" lIns="0" tIns="0" rIns="0" bIns="0" rtlCol="0" anchor="t">
            <a:normAutofit/>
          </a:bodyPr>
          <a:lstStyle/>
          <a:p>
            <a:pPr algn="l" marL="22860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Only average accuracy, no TPR at low FPR (Carlini et al. 2022)</a:t>
            </a:r>
            <a:endParaRPr lang="en-US" sz="1500" dirty="0"/>
          </a:p>
          <a:p>
            <a:pPr algn="l" marL="22860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Never beats the loss attack</a:t>
            </a:r>
            <a:endParaRPr lang="en-US" sz="1500" dirty="0"/>
          </a:p>
          <a:p>
            <a:pPr algn="l" marL="22860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Overfitted targets, no DP model</a:t>
            </a:r>
            <a:endParaRPr lang="en-US" sz="1500" dirty="0"/>
          </a:p>
          <a:p>
            <a:pPr algn="l" marL="228600" indent="-182880">
              <a:lnSpc>
                <a:spcPts val="2250"/>
              </a:lnSpc>
              <a:buSzPct val="100000"/>
              <a:buChar char="•"/>
            </a:pPr>
            <a:r>
              <a:rPr lang="en-US" sz="1500" dirty="0">
                <a:solidFill>
                  <a:srgbClr val="4A4F5C"/>
                </a:solidFill>
                <a:latin typeface="IBM Plex Sans" pitchFamily="34" charset="0"/>
                <a:ea typeface="IBM Plex Sans" pitchFamily="34" charset="-122"/>
                <a:cs typeface="IBM Plex Sans" pitchFamily="34" charset="-120"/>
              </a:rPr>
              <a:t>Off-manifold claim untested, no error bars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CE8DF"/>
        </a:solidFill>
      </p:bgPr>
    </p:bg>
    <p:spTree>
      <p:nvGrpSpPr>
        <p:cNvPr id="1" name=""/>
        <p:cNvGrpSpPr/>
        <p:nvPr/>
      </p:nvGrpSpPr>
      <p:grpSpPr>
        <a:xfrm>
          <a:off x="0" y="0"/>
          <a:ext cx="0" cy="0"/>
          <a:chOff x="0" y="0"/>
          <a:chExt cx="0" cy="0"/>
        </a:xfrm>
      </p:grpSpPr>
      <p:sp>
        <p:nvSpPr>
          <p:cNvPr id="2" name="Text 0"/>
          <p:cNvSpPr/>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E2430"/>
                </a:solidFill>
                <a:latin typeface="Source Serif 4" pitchFamily="34" charset="0"/>
                <a:ea typeface="Source Serif 4" pitchFamily="34" charset="-122"/>
                <a:cs typeface="Source Serif 4" pitchFamily="34" charset="-120"/>
              </a:rPr>
              <a:t>Differential privacy covers some explanations for free</a:t>
            </a:r>
            <a:endParaRPr lang="en-US" sz="3000" dirty="0"/>
          </a:p>
        </p:txBody>
      </p:sp>
      <p:sp>
        <p:nvSpPr>
          <p:cNvPr id="3" name="Shape 1"/>
          <p:cNvSpPr/>
          <p:nvPr/>
        </p:nvSpPr>
        <p:spPr>
          <a:xfrm>
            <a:off x="815975" y="1539875"/>
            <a:ext cx="5175250" cy="4502150"/>
          </a:xfrm>
          <a:prstGeom prst="roundRect">
            <a:avLst>
              <a:gd name="adj" fmla="val 1622"/>
            </a:avLst>
          </a:prstGeom>
          <a:solidFill>
            <a:srgbClr val="FBFAF7"/>
          </a:solidFill>
          <a:ln w="6350">
            <a:solidFill>
              <a:srgbClr val="DDD8CC"/>
            </a:solidFill>
            <a:prstDash val="solid"/>
          </a:ln>
        </p:spPr>
      </p:sp>
      <p:sp>
        <p:nvSpPr>
          <p:cNvPr id="4" name="Text 2"/>
          <p:cNvSpPr/>
          <p:nvPr/>
        </p:nvSpPr>
        <p:spPr>
          <a:xfrm>
            <a:off x="1071880" y="1795779"/>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2430"/>
                </a:solidFill>
                <a:latin typeface="IBM Plex Sans" pitchFamily="34" charset="0"/>
                <a:ea typeface="IBM Plex Sans" pitchFamily="34" charset="-122"/>
                <a:cs typeface="IBM Plex Sans" pitchFamily="34" charset="-120"/>
              </a:rPr>
              <a:t>Feature-based</a:t>
            </a:r>
            <a:endParaRPr lang="en-US" sz="1800" dirty="0"/>
          </a:p>
        </p:txBody>
      </p:sp>
      <p:sp>
        <p:nvSpPr>
          <p:cNvPr id="5" name="Text 3"/>
          <p:cNvSpPr/>
          <p:nvPr/>
        </p:nvSpPr>
        <p:spPr>
          <a:xfrm>
            <a:off x="1071880" y="2171700"/>
            <a:ext cx="480334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Gradient, Integrated Gradients, LRP, SmoothGrad and LIME only use the trained model and the query.</a:t>
            </a:r>
            <a:endParaRPr lang="en-US" sz="1500" dirty="0"/>
          </a:p>
        </p:txBody>
      </p:sp>
      <p:sp>
        <p:nvSpPr>
          <p:cNvPr id="6" name="Text 4"/>
          <p:cNvSpPr/>
          <p:nvPr/>
        </p:nvSpPr>
        <p:spPr>
          <a:xfrm>
            <a:off x="1071880" y="2806700"/>
            <a:ext cx="480334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Train with DP (e.g. DP-SGD) and the explanations inherit the guarantee by post-processing, at no extra cost.</a:t>
            </a:r>
            <a:endParaRPr lang="en-US" sz="1500" dirty="0"/>
          </a:p>
        </p:txBody>
      </p:sp>
      <p:sp>
        <p:nvSpPr>
          <p:cNvPr id="7" name="Shape 5"/>
          <p:cNvSpPr/>
          <p:nvPr/>
        </p:nvSpPr>
        <p:spPr>
          <a:xfrm>
            <a:off x="6200775" y="1539875"/>
            <a:ext cx="5175250" cy="4502150"/>
          </a:xfrm>
          <a:prstGeom prst="roundRect">
            <a:avLst>
              <a:gd name="adj" fmla="val 1622"/>
            </a:avLst>
          </a:prstGeom>
          <a:solidFill>
            <a:srgbClr val="FBFAF7"/>
          </a:solidFill>
          <a:ln w="6350">
            <a:solidFill>
              <a:srgbClr val="DDD8CC"/>
            </a:solidFill>
            <a:prstDash val="solid"/>
          </a:ln>
        </p:spPr>
      </p:sp>
      <p:sp>
        <p:nvSpPr>
          <p:cNvPr id="8" name="Text 6"/>
          <p:cNvSpPr/>
          <p:nvPr/>
        </p:nvSpPr>
        <p:spPr>
          <a:xfrm>
            <a:off x="6456680" y="1795779"/>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4441A"/>
                </a:solidFill>
                <a:latin typeface="IBM Plex Sans" pitchFamily="34" charset="0"/>
                <a:ea typeface="IBM Plex Sans" pitchFamily="34" charset="-122"/>
                <a:cs typeface="IBM Plex Sans" pitchFamily="34" charset="-120"/>
              </a:rPr>
              <a:t>Example-based</a:t>
            </a:r>
            <a:endParaRPr lang="en-US" sz="1800" dirty="0"/>
          </a:p>
        </p:txBody>
      </p:sp>
      <p:sp>
        <p:nvSpPr>
          <p:cNvPr id="9" name="Text 7"/>
          <p:cNvSpPr/>
          <p:nvPr/>
        </p:nvSpPr>
        <p:spPr>
          <a:xfrm>
            <a:off x="6456680" y="2171700"/>
            <a:ext cx="480334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Influence-based explanations read the training data again every time an explanation is computed.</a:t>
            </a:r>
            <a:endParaRPr lang="en-US" sz="1500" dirty="0"/>
          </a:p>
        </p:txBody>
      </p:sp>
      <p:sp>
        <p:nvSpPr>
          <p:cNvPr id="10" name="Text 8"/>
          <p:cNvSpPr/>
          <p:nvPr/>
        </p:nvSpPr>
        <p:spPr>
          <a:xfrm>
            <a:off x="6456680" y="2806700"/>
            <a:ext cx="480334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430"/>
                </a:solidFill>
                <a:latin typeface="IBM Plex Sans" pitchFamily="34" charset="0"/>
                <a:ea typeface="IBM Plex Sans" pitchFamily="34" charset="-122"/>
                <a:cs typeface="IBM Plex Sans" pitchFamily="34" charset="-120"/>
              </a:rPr>
              <a:t>Post-processing does not apply: they need their own mechanism (Patel, Shokri and Zick 2022).</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E2430"/>
                </a:solidFill>
                <a:latin typeface="Source Serif 4" pitchFamily="34" charset="0"/>
                <a:ea typeface="Source Serif 4" pitchFamily="34" charset="-122"/>
                <a:cs typeface="Source Serif 4" pitchFamily="34" charset="-120"/>
              </a:rPr>
              <a:t>The same maths as the unlearning attack in Bertran et al.</a:t>
            </a:r>
            <a:endParaRPr lang="en-US" sz="3000" dirty="0"/>
          </a:p>
        </p:txBody>
      </p:sp>
      <p:sp>
        <p:nvSpPr>
          <p:cNvPr id="3" name="Shape 1"/>
          <p:cNvSpPr/>
          <p:nvPr/>
        </p:nvSpPr>
        <p:spPr>
          <a:xfrm>
            <a:off x="815975" y="1539875"/>
            <a:ext cx="5175250" cy="1789430"/>
          </a:xfrm>
          <a:prstGeom prst="roundRect">
            <a:avLst>
              <a:gd name="adj" fmla="val 4081"/>
            </a:avLst>
          </a:prstGeom>
          <a:solidFill>
            <a:srgbClr val="FBFAF7"/>
          </a:solidFill>
          <a:ln w="6350">
            <a:solidFill>
              <a:srgbClr val="DDD8CC"/>
            </a:solidFill>
            <a:prstDash val="solid"/>
          </a:ln>
        </p:spPr>
      </p:sp>
      <p:sp>
        <p:nvSpPr>
          <p:cNvPr id="4" name="Text 2"/>
          <p:cNvSpPr/>
          <p:nvPr/>
        </p:nvSpPr>
        <p:spPr>
          <a:xfrm>
            <a:off x="1071880" y="1795779"/>
            <a:ext cx="480334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4441A"/>
                </a:solidFill>
                <a:latin typeface="IBM Plex Sans" pitchFamily="34" charset="0"/>
                <a:ea typeface="IBM Plex Sans" pitchFamily="34" charset="-122"/>
                <a:cs typeface="IBM Plex Sans" pitchFamily="34" charset="-120"/>
              </a:rPr>
              <a:t>Shokri et al. 2021</a:t>
            </a:r>
            <a:endParaRPr lang="en-US" sz="1500" dirty="0"/>
          </a:p>
        </p:txBody>
      </p:sp>
      <p:sp>
        <p:nvSpPr>
          <p:cNvPr id="5" name="Text 3"/>
          <p:cNvSpPr/>
          <p:nvPr/>
        </p:nvSpPr>
        <p:spPr>
          <a:xfrm>
            <a:off x="1071880" y="2164079"/>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2430"/>
                </a:solidFill>
                <a:latin typeface="IBM Plex Sans" pitchFamily="34" charset="0"/>
                <a:ea typeface="IBM Plex Sans" pitchFamily="34" charset="-122"/>
                <a:cs typeface="IBM Plex Sans" pitchFamily="34" charset="-120"/>
              </a:rPr>
              <a:t>Right to explanation</a:t>
            </a:r>
            <a:endParaRPr lang="en-US" sz="1800" dirty="0"/>
          </a:p>
        </p:txBody>
      </p:sp>
      <p:sp>
        <p:nvSpPr>
          <p:cNvPr id="6" name="Text 4"/>
          <p:cNvSpPr/>
          <p:nvPr/>
        </p:nvSpPr>
        <p:spPr>
          <a:xfrm>
            <a:off x="1071880" y="2540000"/>
            <a:ext cx="480334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Influence-function explanations are built on H⁻¹∇ℓ, the effect of one training point on the model.</a:t>
            </a:r>
            <a:endParaRPr lang="en-US" sz="1500" dirty="0"/>
          </a:p>
        </p:txBody>
      </p:sp>
      <p:sp>
        <p:nvSpPr>
          <p:cNvPr id="7" name="Shape 5"/>
          <p:cNvSpPr/>
          <p:nvPr/>
        </p:nvSpPr>
        <p:spPr>
          <a:xfrm>
            <a:off x="6200775" y="1539875"/>
            <a:ext cx="5175250" cy="1789430"/>
          </a:xfrm>
          <a:prstGeom prst="roundRect">
            <a:avLst>
              <a:gd name="adj" fmla="val 4081"/>
            </a:avLst>
          </a:prstGeom>
          <a:solidFill>
            <a:srgbClr val="FBFAF7"/>
          </a:solidFill>
          <a:ln w="6350">
            <a:solidFill>
              <a:srgbClr val="DDD8CC"/>
            </a:solidFill>
            <a:prstDash val="solid"/>
          </a:ln>
        </p:spPr>
      </p:sp>
      <p:sp>
        <p:nvSpPr>
          <p:cNvPr id="8" name="Text 6"/>
          <p:cNvSpPr/>
          <p:nvPr/>
        </p:nvSpPr>
        <p:spPr>
          <a:xfrm>
            <a:off x="6456680" y="1795779"/>
            <a:ext cx="480334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4441A"/>
                </a:solidFill>
                <a:latin typeface="IBM Plex Sans" pitchFamily="34" charset="0"/>
                <a:ea typeface="IBM Plex Sans" pitchFamily="34" charset="-122"/>
                <a:cs typeface="IBM Plex Sans" pitchFamily="34" charset="-120"/>
              </a:rPr>
              <a:t>Bertran et al. 2024</a:t>
            </a:r>
            <a:endParaRPr lang="en-US" sz="1500" dirty="0"/>
          </a:p>
        </p:txBody>
      </p:sp>
      <p:sp>
        <p:nvSpPr>
          <p:cNvPr id="9" name="Text 7"/>
          <p:cNvSpPr/>
          <p:nvPr/>
        </p:nvSpPr>
        <p:spPr>
          <a:xfrm>
            <a:off x="6456680" y="2164079"/>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2430"/>
                </a:solidFill>
                <a:latin typeface="IBM Plex Sans" pitchFamily="34" charset="0"/>
                <a:ea typeface="IBM Plex Sans" pitchFamily="34" charset="-122"/>
                <a:cs typeface="IBM Plex Sans" pitchFamily="34" charset="-120"/>
              </a:rPr>
              <a:t>Right to erasure</a:t>
            </a:r>
            <a:endParaRPr lang="en-US" sz="1800" dirty="0"/>
          </a:p>
        </p:txBody>
      </p:sp>
      <p:sp>
        <p:nvSpPr>
          <p:cNvPr id="10" name="Text 8"/>
          <p:cNvSpPr/>
          <p:nvPr/>
        </p:nvSpPr>
        <p:spPr>
          <a:xfrm>
            <a:off x="6456680" y="2540000"/>
            <a:ext cx="480334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F5C"/>
                </a:solidFill>
                <a:latin typeface="IBM Plex Sans" pitchFamily="34" charset="0"/>
                <a:ea typeface="IBM Plex Sans" pitchFamily="34" charset="-122"/>
                <a:cs typeface="IBM Plex Sans" pitchFamily="34" charset="-120"/>
              </a:rPr>
              <a:t>Hessian × (model before − model after) ≈ gradient of the deleted record, which gives the record back.</a:t>
            </a:r>
            <a:endParaRPr lang="en-US" sz="1500" dirty="0"/>
          </a:p>
        </p:txBody>
      </p:sp>
      <p:sp>
        <p:nvSpPr>
          <p:cNvPr id="11" name="Text 9"/>
          <p:cNvSpPr/>
          <p:nvPr/>
        </p:nvSpPr>
        <p:spPr>
          <a:xfrm>
            <a:off x="812800" y="3637279"/>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E2430"/>
                </a:solidFill>
                <a:latin typeface="IBM Plex Sans" pitchFamily="34" charset="0"/>
                <a:ea typeface="IBM Plex Sans" pitchFamily="34" charset="-122"/>
                <a:cs typeface="IBM Plex Sans" pitchFamily="34" charset="-120"/>
              </a:rPr>
              <a:t>In both, something added for a GDPR right leaks more than the model alone.</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E2430"/>
                </a:solidFill>
                <a:latin typeface="Source Serif 4" pitchFamily="34" charset="0"/>
                <a:ea typeface="Source Serif 4" pitchFamily="34" charset="-122"/>
                <a:cs typeface="Source Serif 4" pitchFamily="34" charset="-120"/>
              </a:rPr>
              <a:t>Future work</a:t>
            </a:r>
            <a:endParaRPr lang="en-US" sz="3000" dirty="0"/>
          </a:p>
        </p:txBody>
      </p:sp>
      <p:sp>
        <p:nvSpPr>
          <p:cNvPr id="3" name="Text 1"/>
          <p:cNvSpPr/>
          <p:nvPr/>
        </p:nvSpPr>
        <p:spPr>
          <a:xfrm>
            <a:off x="812800" y="1536700"/>
            <a:ext cx="10883392" cy="1397000"/>
          </a:xfrm>
          <a:prstGeom prst="rect">
            <a:avLst/>
          </a:prstGeom>
          <a:noFill/>
          <a:ln/>
        </p:spPr>
        <p:txBody>
          <a:bodyPr wrap="square" lIns="0" tIns="0" rIns="0" bIns="0" rtlCol="0" anchor="t">
            <a:normAutofit/>
          </a:bodyPr>
          <a:lstStyle/>
          <a:p>
            <a:pPr algn="l" marL="274320" indent="-210566">
              <a:lnSpc>
                <a:spcPts val="2700"/>
              </a:lnSpc>
              <a:buSzPct val="100000"/>
              <a:buChar char="•"/>
            </a:pPr>
            <a:r>
              <a:rPr lang="en-US" sz="1800" dirty="0">
                <a:solidFill>
                  <a:srgbClr val="4A4F5C"/>
                </a:solidFill>
                <a:latin typeface="IBM Plex Sans" pitchFamily="34" charset="0"/>
                <a:ea typeface="IBM Plex Sans" pitchFamily="34" charset="-122"/>
                <a:cs typeface="IBM Plex Sans" pitchFamily="34" charset="-120"/>
              </a:rPr>
              <a:t>Explanation methods with differential privacy, and a measure of how much worse they get</a:t>
            </a:r>
            <a:endParaRPr lang="en-US" sz="1800" dirty="0"/>
          </a:p>
          <a:p>
            <a:pPr algn="l" marL="274320" indent="-210566">
              <a:lnSpc>
                <a:spcPts val="2700"/>
              </a:lnSpc>
              <a:buSzPct val="100000"/>
              <a:buChar char="•"/>
            </a:pPr>
            <a:r>
              <a:rPr lang="en-US" sz="1800" dirty="0">
                <a:solidFill>
                  <a:srgbClr val="4A4F5C"/>
                </a:solidFill>
                <a:latin typeface="IBM Plex Sans" pitchFamily="34" charset="0"/>
                <a:ea typeface="IBM Plex Sans" pitchFamily="34" charset="-122"/>
                <a:cs typeface="IBM Plex Sans" pitchFamily="34" charset="-120"/>
              </a:rPr>
              <a:t>Re-run the attacks with TPR at low FPR, on DP-trained and less overfitted models</a:t>
            </a:r>
            <a:endParaRPr lang="en-US" sz="1800" dirty="0"/>
          </a:p>
          <a:p>
            <a:pPr algn="l" marL="274320" indent="-210566">
              <a:lnSpc>
                <a:spcPts val="2700"/>
              </a:lnSpc>
              <a:buSzPct val="100000"/>
              <a:buChar char="•"/>
            </a:pPr>
            <a:r>
              <a:rPr lang="en-US" sz="1800" dirty="0">
                <a:solidFill>
                  <a:srgbClr val="4A4F5C"/>
                </a:solidFill>
                <a:latin typeface="IBM Plex Sans" pitchFamily="34" charset="0"/>
                <a:ea typeface="IBM Plex Sans" pitchFamily="34" charset="-122"/>
                <a:cs typeface="IBM Plex Sans" pitchFamily="34" charset="-120"/>
              </a:rPr>
              <a:t>Explanations and unlearning from the same service: do the leaks add up?</a:t>
            </a:r>
            <a:endParaRPr lang="en-US" sz="1800" dirty="0"/>
          </a:p>
          <a:p>
            <a:pPr algn="l" marL="274320" indent="-210566">
              <a:lnSpc>
                <a:spcPts val="2700"/>
              </a:lnSpc>
              <a:buSzPct val="100000"/>
              <a:buChar char="•"/>
            </a:pPr>
            <a:r>
              <a:rPr lang="en-US" sz="1800" dirty="0">
                <a:solidFill>
                  <a:srgbClr val="4A4F5C"/>
                </a:solidFill>
                <a:latin typeface="IBM Plex Sans" pitchFamily="34" charset="0"/>
                <a:ea typeface="IBM Plex Sans" pitchFamily="34" charset="-122"/>
                <a:cs typeface="IBM Plex Sans" pitchFamily="34" charset="-120"/>
              </a:rPr>
              <a:t>Minority exposure with larger groups</a:t>
            </a:r>
            <a:endParaRPr lang="en-US" sz="1800" dirty="0"/>
          </a:p>
        </p:txBody>
      </p:sp>
      <p:sp>
        <p:nvSpPr>
          <p:cNvPr id="4" name="Text 2"/>
          <p:cNvSpPr/>
          <p:nvPr/>
        </p:nvSpPr>
        <p:spPr>
          <a:xfrm>
            <a:off x="812800" y="3213100"/>
            <a:ext cx="915670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E2430"/>
                </a:solidFill>
                <a:latin typeface="IBM Plex Sans" pitchFamily="34" charset="0"/>
                <a:ea typeface="IBM Plex Sans" pitchFamily="34" charset="-122"/>
                <a:cs typeface="IBM Plex Sans" pitchFamily="34" charset="-120"/>
              </a:rPr>
              <a:t>My takeaway: explanations are part of what a model reveals about its training data, just like predictions and confidence scores.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430"/>
        </a:solidFill>
      </p:bgPr>
    </p:bg>
    <p:spTree>
      <p:nvGrpSpPr>
        <p:cNvPr id="1" name=""/>
        <p:cNvGrpSpPr/>
        <p:nvPr/>
      </p:nvGrpSpPr>
      <p:grpSpPr>
        <a:xfrm>
          <a:off x="0" y="0"/>
          <a:ext cx="0" cy="0"/>
          <a:chOff x="0" y="0"/>
          <a:chExt cx="0" cy="0"/>
        </a:xfrm>
      </p:grpSpPr>
      <p:sp>
        <p:nvSpPr>
          <p:cNvPr id="2" name="Text 0"/>
          <p:cNvSpPr/>
          <p:nvPr/>
        </p:nvSpPr>
        <p:spPr>
          <a:xfrm>
            <a:off x="812800" y="2573027"/>
            <a:ext cx="10883392"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6F4EF"/>
                </a:solidFill>
                <a:latin typeface="Source Serif 4" pitchFamily="34" charset="0"/>
                <a:ea typeface="Source Serif 4" pitchFamily="34" charset="-122"/>
                <a:cs typeface="Source Serif 4" pitchFamily="34" charset="-120"/>
              </a:rPr>
              <a:t>Questions?</a:t>
            </a:r>
            <a:endParaRPr lang="en-US" sz="4800" dirty="0"/>
          </a:p>
        </p:txBody>
      </p:sp>
      <p:sp>
        <p:nvSpPr>
          <p:cNvPr id="3" name="Text 1"/>
          <p:cNvSpPr/>
          <p:nvPr/>
        </p:nvSpPr>
        <p:spPr>
          <a:xfrm>
            <a:off x="812800" y="3497585"/>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CDD6"/>
                </a:solidFill>
                <a:latin typeface="IBM Plex Sans" pitchFamily="34" charset="0"/>
                <a:ea typeface="IBM Plex Sans" pitchFamily="34" charset="-122"/>
                <a:cs typeface="IBM Plex Sans" pitchFamily="34" charset="-120"/>
              </a:rPr>
              <a:t>R. Shokri, M. Strobel, Y. Zick. On the privacy risks of model explanations. AIES 2021.</a:t>
            </a:r>
            <a:endParaRPr lang="en-US" sz="1500" dirty="0"/>
          </a:p>
        </p:txBody>
      </p:sp>
      <p:sp>
        <p:nvSpPr>
          <p:cNvPr id="4" name="Text 2"/>
          <p:cNvSpPr/>
          <p:nvPr/>
        </p:nvSpPr>
        <p:spPr>
          <a:xfrm>
            <a:off x="812800" y="4018285"/>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9875F"/>
                </a:solidFill>
                <a:latin typeface="IBM Plex Sans" pitchFamily="34" charset="0"/>
                <a:ea typeface="IBM Plex Sans" pitchFamily="34" charset="-122"/>
                <a:cs typeface="IBM Plex Sans" pitchFamily="34" charset="-120"/>
              </a:rPr>
              <a:t>Michail Pettas · mipe5495@umu.se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Privacy Risks of Model Explanations</dc:title>
  <dc:subject>PptxGenJS Presentation</dc:subject>
  <dc:creator>PptxGenJS</dc:creator>
  <cp:lastModifiedBy>PptxGenJS</cp:lastModifiedBy>
  <cp:revision>1</cp:revision>
  <dcterms:created xsi:type="dcterms:W3CDTF">2026-09-23T14:22:38Z</dcterms:created>
  <dcterms:modified xsi:type="dcterms:W3CDTF">2026-09-23T14:22:38Z</dcterms:modified>
</cp:coreProperties>
</file>